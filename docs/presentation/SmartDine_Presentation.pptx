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67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25F3CD-8223-4F91-B764-BE73658A0736}" type="datetimeFigureOut">
              <a:rPr lang="en-GB" smtClean="0"/>
              <a:t>04/10/2026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65DCBA-F298-47C6-8AF7-5E1072271838}" type="slidenum">
              <a:rPr lang="en-GB" smtClean="0"/>
              <a:t>‹#›</a:t>
            </a:fld>
            <a:endParaRPr lang="en-GB"/>
          </a:p>
        </p:txBody>
      </p:sp>
    </p:spTree>
    <p:extLst>
      <p:ext uri="{BB962C8B-B14F-4D97-AF65-F5344CB8AC3E}">
        <p14:creationId xmlns:p14="http://schemas.microsoft.com/office/powerpoint/2010/main" val="2221744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Good morning everyone. Our project is SmartDine, an intelligent restaurant management system developed for ICT203 Assessment 3. It is a full-stack web application built with React, Express.js, and MySQL. The system supports customer food ordering, admin order management, and a rule-based assistant that helps users with menu questions and recommendations.</a:t>
            </a:r>
            <a:endParaRPr lang="en-GB">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265DCBA-F298-47C6-8AF7-5E1072271838}" type="slidenum">
              <a:rPr lang="en-GB" smtClean="0"/>
              <a:t>1</a:t>
            </a:fld>
            <a:endParaRPr lang="en-GB"/>
          </a:p>
        </p:txBody>
      </p:sp>
    </p:spTree>
    <p:extLst>
      <p:ext uri="{BB962C8B-B14F-4D97-AF65-F5344CB8AC3E}">
        <p14:creationId xmlns:p14="http://schemas.microsoft.com/office/powerpoint/2010/main" val="803710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problem we focused on is the daily workflow of a small restaurant. Customers need a clear way to view the menu and place orders. At the same time, restaurant staff need a simple way to manage menu information and track order progress. SmartDine separates customer and admin actions so each user only sees the tools that match their role.</a:t>
            </a:r>
            <a:endParaRPr lang="en-GB">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265DCBA-F298-47C6-8AF7-5E1072271838}" type="slidenum">
              <a:rPr lang="en-GB" smtClean="0"/>
              <a:t>2</a:t>
            </a:fld>
            <a:endParaRPr lang="en-GB"/>
          </a:p>
        </p:txBody>
      </p:sp>
    </p:spTree>
    <p:extLst>
      <p:ext uri="{BB962C8B-B14F-4D97-AF65-F5344CB8AC3E}">
        <p14:creationId xmlns:p14="http://schemas.microsoft.com/office/powerpoint/2010/main" val="1099492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For the technology stack, we used React for the frontend because it is suitable for building reusable interface components and updating the page quickly. Express.js was used for backend API routes such as login, menu, orders, and chatbot messages. MySQL stores the real project data. The team work was divided across coordination, frontend, backend, database, testing, and documentation.</a:t>
            </a:r>
            <a:endParaRPr lang="en-GB">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265DCBA-F298-47C6-8AF7-5E1072271838}" type="slidenum">
              <a:rPr lang="en-GB" smtClean="0"/>
              <a:t>3</a:t>
            </a:fld>
            <a:endParaRPr lang="en-GB"/>
          </a:p>
        </p:txBody>
      </p:sp>
    </p:spTree>
    <p:extLst>
      <p:ext uri="{BB962C8B-B14F-4D97-AF65-F5344CB8AC3E}">
        <p14:creationId xmlns:p14="http://schemas.microsoft.com/office/powerpoint/2010/main" val="3667332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system architecture has three main parts. The React frontend is what the user interacts with. The Express backend receives API requests and applies the system logic. The MySQL database stores the real data used by the application. For example, when the menu loads, the frontend requests menu items from the backend, and the backend reads those items from MySQL.</a:t>
            </a:r>
            <a:endParaRPr lang="en-GB">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265DCBA-F298-47C6-8AF7-5E1072271838}" type="slidenum">
              <a:rPr lang="en-GB" smtClean="0"/>
              <a:t>4</a:t>
            </a:fld>
            <a:endParaRPr lang="en-GB"/>
          </a:p>
        </p:txBody>
      </p:sp>
    </p:spTree>
    <p:extLst>
      <p:ext uri="{BB962C8B-B14F-4D97-AF65-F5344CB8AC3E}">
        <p14:creationId xmlns:p14="http://schemas.microsoft.com/office/powerpoint/2010/main" val="3098511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This slide shows that the menu is not just static content on the frontend. The menu cards are loaded through the backend API using data from MySQL. Customers can search for food and filter by category. The seeded database items appear in the menu, and new items created by an admin can also appear after the page refreshes.</a:t>
            </a:r>
            <a:endParaRPr lang="en-GB">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265DCBA-F298-47C6-8AF7-5E1072271838}" type="slidenum">
              <a:rPr lang="en-GB" smtClean="0"/>
              <a:t>5</a:t>
            </a:fld>
            <a:endParaRPr lang="en-GB"/>
          </a:p>
        </p:txBody>
      </p:sp>
    </p:spTree>
    <p:extLst>
      <p:ext uri="{BB962C8B-B14F-4D97-AF65-F5344CB8AC3E}">
        <p14:creationId xmlns:p14="http://schemas.microsoft.com/office/powerpoint/2010/main" val="90955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customer workflow starts with a customer login. After logging in, the customer can browse the menu, add items to the cart, and submit the order. The cart count updates when items are added. When the order is placed, the backend stores the order details, including item quantity and total amount.</a:t>
            </a:r>
            <a:endParaRPr lang="en-GB">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265DCBA-F298-47C6-8AF7-5E1072271838}" type="slidenum">
              <a:rPr lang="en-GB" smtClean="0"/>
              <a:t>6</a:t>
            </a:fld>
            <a:endParaRPr lang="en-GB"/>
          </a:p>
        </p:txBody>
      </p:sp>
    </p:spTree>
    <p:extLst>
      <p:ext uri="{BB962C8B-B14F-4D97-AF65-F5344CB8AC3E}">
        <p14:creationId xmlns:p14="http://schemas.microsoft.com/office/powerpoint/2010/main" val="1417362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admin workflow is separate from the customer workflow. Admin users can access protected tools, such as order management and menu management. Customers cannot open admin tools because the system checks the user's role. Admins can update order status, but they cannot place customer orders, which keeps the roles clear.</a:t>
            </a:r>
            <a:endParaRPr lang="en-GB">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265DCBA-F298-47C6-8AF7-5E1072271838}" type="slidenum">
              <a:rPr lang="en-GB" smtClean="0"/>
              <a:t>7</a:t>
            </a:fld>
            <a:endParaRPr lang="en-GB"/>
          </a:p>
        </p:txBody>
      </p:sp>
    </p:spTree>
    <p:extLst>
      <p:ext uri="{BB962C8B-B14F-4D97-AF65-F5344CB8AC3E}">
        <p14:creationId xmlns:p14="http://schemas.microsoft.com/office/powerpoint/2010/main" val="1966649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backend is organised into separate API areas for authentication, menu, orders, and chatbot logic. After a user logs in, the session keeps track of the current user. Role middleware protects admin routes and blocks restricted actions. The backend also returns validation messages so users can understand what went wrong when data is missing or incorrect.</a:t>
            </a:r>
            <a:endParaRPr lang="en-GB">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265DCBA-F298-47C6-8AF7-5E1072271838}" type="slidenum">
              <a:rPr lang="en-GB" smtClean="0"/>
              <a:t>8</a:t>
            </a:fld>
            <a:endParaRPr lang="en-GB"/>
          </a:p>
        </p:txBody>
      </p:sp>
    </p:spTree>
    <p:extLst>
      <p:ext uri="{BB962C8B-B14F-4D97-AF65-F5344CB8AC3E}">
        <p14:creationId xmlns:p14="http://schemas.microsoft.com/office/powerpoint/2010/main" val="2868297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SmartDine Assistant is a rule-based assistant. It is not a general chatbot and does not use an external AI service. It answers questions inside the restaurant workflow, such as menu recommendations, spice levels, ordering steps, and order status. For recommendations, it can ask about the user's taste preference before suggesting food.</a:t>
            </a:r>
            <a:endParaRPr lang="en-GB">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265DCBA-F298-47C6-8AF7-5E1072271838}" type="slidenum">
              <a:rPr lang="en-GB" smtClean="0"/>
              <a:t>9</a:t>
            </a:fld>
            <a:endParaRPr lang="en-GB"/>
          </a:p>
        </p:txBody>
      </p:sp>
    </p:spTree>
    <p:extLst>
      <p:ext uri="{BB962C8B-B14F-4D97-AF65-F5344CB8AC3E}">
        <p14:creationId xmlns:p14="http://schemas.microsoft.com/office/powerpoint/2010/main" val="1177325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database design supports the main application features. Users are connected to orders, and each order is connected to order items. Order items link the order to selected menu items. Categories help organise menu items for browsing and filtering. Activity logs record important actions such as login, menu updates, and order changes.</a:t>
            </a:r>
            <a:endParaRPr lang="en-GB">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265DCBA-F298-47C6-8AF7-5E1072271838}" type="slidenum">
              <a:rPr lang="en-GB" smtClean="0"/>
              <a:t>10</a:t>
            </a:fld>
            <a:endParaRPr lang="en-GB"/>
          </a:p>
        </p:txBody>
      </p:sp>
    </p:spTree>
    <p:extLst>
      <p:ext uri="{BB962C8B-B14F-4D97-AF65-F5344CB8AC3E}">
        <p14:creationId xmlns:p14="http://schemas.microsoft.com/office/powerpoint/2010/main" val="1694571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For testing, we checked the main workflows that will be shown in the demo. This includes customer login, customer order placement, invalid login feedback, admin restrictions, and admin order status updates. We also kept GitHub evidence such as branches, commits, and pull requests to show team collaboration.</a:t>
            </a:r>
            <a:endParaRPr lang="en-GB">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265DCBA-F298-47C6-8AF7-5E1072271838}" type="slidenum">
              <a:rPr lang="en-GB" smtClean="0"/>
              <a:t>11</a:t>
            </a:fld>
            <a:endParaRPr lang="en-GB"/>
          </a:p>
        </p:txBody>
      </p:sp>
    </p:spTree>
    <p:extLst>
      <p:ext uri="{BB962C8B-B14F-4D97-AF65-F5344CB8AC3E}">
        <p14:creationId xmlns:p14="http://schemas.microsoft.com/office/powerpoint/2010/main" val="2643695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For deployment, the frontend is hosted on Netlify, the backend API is hosted on Render, and the database is hosted on Aiven MySQL. In the live demo, we can show the menu loading from the database, a customer placing an order, an admin updating the order status, and the chatbot helping with menu questions.</a:t>
            </a:r>
            <a:endParaRPr lang="en-GB">
              <a:latin typeface="Aptos" panose="020B0004020202020204" pitchFamily="34" charset="0"/>
            </a:endParaRPr>
          </a:p>
        </p:txBody>
      </p:sp>
      <p:sp>
        <p:nvSpPr>
          <p:cNvPr id="4" name="Slide Number Placeholder 3"/>
          <p:cNvSpPr>
            <a:spLocks noGrp="1"/>
          </p:cNvSpPr>
          <p:nvPr>
            <p:ph type="sldNum" sz="quarter" idx="5"/>
          </p:nvPr>
        </p:nvSpPr>
        <p:spPr/>
        <p:txBody>
          <a:bodyPr/>
          <a:lstStyle/>
          <a:p>
            <a:fld id="{5265DCBA-F298-47C6-8AF7-5E1072271838}" type="slidenum">
              <a:rPr lang="en-GB" smtClean="0"/>
              <a:t>12</a:t>
            </a:fld>
            <a:endParaRPr lang="en-GB"/>
          </a:p>
        </p:txBody>
      </p:sp>
    </p:spTree>
    <p:extLst>
      <p:ext uri="{BB962C8B-B14F-4D97-AF65-F5344CB8AC3E}">
        <p14:creationId xmlns:p14="http://schemas.microsoft.com/office/powerpoint/2010/main" val="1780387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96601-31F4-4AE1-BE32-82FFED6F05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5067E41-CD7E-0EC1-F012-33524D888B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6E29369-B345-4631-3DB3-37AA430E044C}"/>
              </a:ext>
            </a:extLst>
          </p:cNvPr>
          <p:cNvSpPr>
            <a:spLocks noGrp="1"/>
          </p:cNvSpPr>
          <p:nvPr>
            <p:ph type="dt" sz="half" idx="10"/>
          </p:nvPr>
        </p:nvSpPr>
        <p:spPr/>
        <p:txBody>
          <a:bodyPr/>
          <a:lstStyle/>
          <a:p>
            <a:fld id="{55C0F489-2981-4B53-A4AC-95DFDAE0E437}" type="datetimeFigureOut">
              <a:rPr lang="en-GB" smtClean="0"/>
              <a:t>04/10/2026</a:t>
            </a:fld>
            <a:endParaRPr lang="en-GB"/>
          </a:p>
        </p:txBody>
      </p:sp>
      <p:sp>
        <p:nvSpPr>
          <p:cNvPr id="5" name="Footer Placeholder 4">
            <a:extLst>
              <a:ext uri="{FF2B5EF4-FFF2-40B4-BE49-F238E27FC236}">
                <a16:creationId xmlns:a16="http://schemas.microsoft.com/office/drawing/2014/main" id="{EF98D137-FB0F-A8CB-7F5F-41875E723A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63A53E6-4877-EBC3-B1C0-7F3139CBFE34}"/>
              </a:ext>
            </a:extLst>
          </p:cNvPr>
          <p:cNvSpPr>
            <a:spLocks noGrp="1"/>
          </p:cNvSpPr>
          <p:nvPr>
            <p:ph type="sldNum" sz="quarter" idx="12"/>
          </p:nvPr>
        </p:nvSpPr>
        <p:spPr/>
        <p:txBody>
          <a:bodyPr/>
          <a:lstStyle/>
          <a:p>
            <a:fld id="{18DB9E36-278F-410F-9C04-BB26A77CBF31}" type="slidenum">
              <a:rPr lang="en-GB" smtClean="0"/>
              <a:t>‹#›</a:t>
            </a:fld>
            <a:endParaRPr lang="en-GB"/>
          </a:p>
        </p:txBody>
      </p:sp>
    </p:spTree>
    <p:extLst>
      <p:ext uri="{BB962C8B-B14F-4D97-AF65-F5344CB8AC3E}">
        <p14:creationId xmlns:p14="http://schemas.microsoft.com/office/powerpoint/2010/main" val="1653281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9E023-C86E-352F-CF74-432DDA16B4D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9CC4850-84CA-30C7-3E19-54CC2050FA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DBD8648-996A-6843-3AA0-782E448418ED}"/>
              </a:ext>
            </a:extLst>
          </p:cNvPr>
          <p:cNvSpPr>
            <a:spLocks noGrp="1"/>
          </p:cNvSpPr>
          <p:nvPr>
            <p:ph type="dt" sz="half" idx="10"/>
          </p:nvPr>
        </p:nvSpPr>
        <p:spPr/>
        <p:txBody>
          <a:bodyPr/>
          <a:lstStyle/>
          <a:p>
            <a:fld id="{55C0F489-2981-4B53-A4AC-95DFDAE0E437}" type="datetimeFigureOut">
              <a:rPr lang="en-GB" smtClean="0"/>
              <a:t>04/10/2026</a:t>
            </a:fld>
            <a:endParaRPr lang="en-GB"/>
          </a:p>
        </p:txBody>
      </p:sp>
      <p:sp>
        <p:nvSpPr>
          <p:cNvPr id="5" name="Footer Placeholder 4">
            <a:extLst>
              <a:ext uri="{FF2B5EF4-FFF2-40B4-BE49-F238E27FC236}">
                <a16:creationId xmlns:a16="http://schemas.microsoft.com/office/drawing/2014/main" id="{A59A9E61-8127-95E0-25AE-5ACB733B9C5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679EC50-802E-7371-8FE0-17FCC96E92AE}"/>
              </a:ext>
            </a:extLst>
          </p:cNvPr>
          <p:cNvSpPr>
            <a:spLocks noGrp="1"/>
          </p:cNvSpPr>
          <p:nvPr>
            <p:ph type="sldNum" sz="quarter" idx="12"/>
          </p:nvPr>
        </p:nvSpPr>
        <p:spPr/>
        <p:txBody>
          <a:bodyPr/>
          <a:lstStyle/>
          <a:p>
            <a:fld id="{18DB9E36-278F-410F-9C04-BB26A77CBF31}" type="slidenum">
              <a:rPr lang="en-GB" smtClean="0"/>
              <a:t>‹#›</a:t>
            </a:fld>
            <a:endParaRPr lang="en-GB"/>
          </a:p>
        </p:txBody>
      </p:sp>
    </p:spTree>
    <p:extLst>
      <p:ext uri="{BB962C8B-B14F-4D97-AF65-F5344CB8AC3E}">
        <p14:creationId xmlns:p14="http://schemas.microsoft.com/office/powerpoint/2010/main" val="2353136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1C2C2-95EE-129C-B6F7-7DEEEA8480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4AA6A4B-2543-1B53-2A1A-0CB18D1C14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C0966A-7C9D-CB81-4FAE-86576F6A94F7}"/>
              </a:ext>
            </a:extLst>
          </p:cNvPr>
          <p:cNvSpPr>
            <a:spLocks noGrp="1"/>
          </p:cNvSpPr>
          <p:nvPr>
            <p:ph type="dt" sz="half" idx="10"/>
          </p:nvPr>
        </p:nvSpPr>
        <p:spPr/>
        <p:txBody>
          <a:bodyPr/>
          <a:lstStyle/>
          <a:p>
            <a:fld id="{55C0F489-2981-4B53-A4AC-95DFDAE0E437}" type="datetimeFigureOut">
              <a:rPr lang="en-GB" smtClean="0"/>
              <a:t>04/10/2026</a:t>
            </a:fld>
            <a:endParaRPr lang="en-GB"/>
          </a:p>
        </p:txBody>
      </p:sp>
      <p:sp>
        <p:nvSpPr>
          <p:cNvPr id="5" name="Footer Placeholder 4">
            <a:extLst>
              <a:ext uri="{FF2B5EF4-FFF2-40B4-BE49-F238E27FC236}">
                <a16:creationId xmlns:a16="http://schemas.microsoft.com/office/drawing/2014/main" id="{9EBB1767-A83D-7A05-F2DE-2D493E14CC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DA393BC-4E24-B35E-6C14-B4F4619E6F24}"/>
              </a:ext>
            </a:extLst>
          </p:cNvPr>
          <p:cNvSpPr>
            <a:spLocks noGrp="1"/>
          </p:cNvSpPr>
          <p:nvPr>
            <p:ph type="sldNum" sz="quarter" idx="12"/>
          </p:nvPr>
        </p:nvSpPr>
        <p:spPr/>
        <p:txBody>
          <a:bodyPr/>
          <a:lstStyle/>
          <a:p>
            <a:fld id="{18DB9E36-278F-410F-9C04-BB26A77CBF31}" type="slidenum">
              <a:rPr lang="en-GB" smtClean="0"/>
              <a:t>‹#›</a:t>
            </a:fld>
            <a:endParaRPr lang="en-GB"/>
          </a:p>
        </p:txBody>
      </p:sp>
    </p:spTree>
    <p:extLst>
      <p:ext uri="{BB962C8B-B14F-4D97-AF65-F5344CB8AC3E}">
        <p14:creationId xmlns:p14="http://schemas.microsoft.com/office/powerpoint/2010/main" val="1494273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4831C-9F07-7E9E-16E8-A2CCEE2D88C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AB0B321-2B71-48A7-A321-B2D724AC63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0EA682A-FAA7-FA49-2328-A29AAE40B2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B4DB014-2864-3E80-9BED-026FF36C4E0F}"/>
              </a:ext>
            </a:extLst>
          </p:cNvPr>
          <p:cNvSpPr>
            <a:spLocks noGrp="1"/>
          </p:cNvSpPr>
          <p:nvPr>
            <p:ph type="dt" sz="half" idx="10"/>
          </p:nvPr>
        </p:nvSpPr>
        <p:spPr/>
        <p:txBody>
          <a:bodyPr/>
          <a:lstStyle/>
          <a:p>
            <a:fld id="{55C0F489-2981-4B53-A4AC-95DFDAE0E437}" type="datetimeFigureOut">
              <a:rPr lang="en-GB" smtClean="0"/>
              <a:t>04/10/2026</a:t>
            </a:fld>
            <a:endParaRPr lang="en-GB"/>
          </a:p>
        </p:txBody>
      </p:sp>
      <p:sp>
        <p:nvSpPr>
          <p:cNvPr id="6" name="Footer Placeholder 5">
            <a:extLst>
              <a:ext uri="{FF2B5EF4-FFF2-40B4-BE49-F238E27FC236}">
                <a16:creationId xmlns:a16="http://schemas.microsoft.com/office/drawing/2014/main" id="{D2C38F9A-A104-AD2C-FC0D-7C713DBF954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5494E03-146E-5788-4F2D-02AA57AC37FC}"/>
              </a:ext>
            </a:extLst>
          </p:cNvPr>
          <p:cNvSpPr>
            <a:spLocks noGrp="1"/>
          </p:cNvSpPr>
          <p:nvPr>
            <p:ph type="sldNum" sz="quarter" idx="12"/>
          </p:nvPr>
        </p:nvSpPr>
        <p:spPr/>
        <p:txBody>
          <a:bodyPr/>
          <a:lstStyle/>
          <a:p>
            <a:fld id="{18DB9E36-278F-410F-9C04-BB26A77CBF31}" type="slidenum">
              <a:rPr lang="en-GB" smtClean="0"/>
              <a:t>‹#›</a:t>
            </a:fld>
            <a:endParaRPr lang="en-GB"/>
          </a:p>
        </p:txBody>
      </p:sp>
    </p:spTree>
    <p:extLst>
      <p:ext uri="{BB962C8B-B14F-4D97-AF65-F5344CB8AC3E}">
        <p14:creationId xmlns:p14="http://schemas.microsoft.com/office/powerpoint/2010/main" val="307906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4660-7F94-2F11-C7D7-DCE0AC04A5A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00DE67F-AFC2-8424-B2DD-398AE9C10D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250A13-D474-FD47-DBCE-99176D01C4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1ED8AC2-5ACF-DD6F-4995-5A83428ED8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3198CB-3FBC-6BF7-FE54-34DD29F127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AA7D542-AA9A-B3F5-860F-82BCB6C633C2}"/>
              </a:ext>
            </a:extLst>
          </p:cNvPr>
          <p:cNvSpPr>
            <a:spLocks noGrp="1"/>
          </p:cNvSpPr>
          <p:nvPr>
            <p:ph type="dt" sz="half" idx="10"/>
          </p:nvPr>
        </p:nvSpPr>
        <p:spPr/>
        <p:txBody>
          <a:bodyPr/>
          <a:lstStyle/>
          <a:p>
            <a:fld id="{55C0F489-2981-4B53-A4AC-95DFDAE0E437}" type="datetimeFigureOut">
              <a:rPr lang="en-GB" smtClean="0"/>
              <a:t>04/10/2026</a:t>
            </a:fld>
            <a:endParaRPr lang="en-GB"/>
          </a:p>
        </p:txBody>
      </p:sp>
      <p:sp>
        <p:nvSpPr>
          <p:cNvPr id="8" name="Footer Placeholder 7">
            <a:extLst>
              <a:ext uri="{FF2B5EF4-FFF2-40B4-BE49-F238E27FC236}">
                <a16:creationId xmlns:a16="http://schemas.microsoft.com/office/drawing/2014/main" id="{D3827B36-FEA4-90A3-D651-F5B53D4E15A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BC5B2EC-E61E-F94C-52BD-441E21B839F8}"/>
              </a:ext>
            </a:extLst>
          </p:cNvPr>
          <p:cNvSpPr>
            <a:spLocks noGrp="1"/>
          </p:cNvSpPr>
          <p:nvPr>
            <p:ph type="sldNum" sz="quarter" idx="12"/>
          </p:nvPr>
        </p:nvSpPr>
        <p:spPr/>
        <p:txBody>
          <a:bodyPr/>
          <a:lstStyle/>
          <a:p>
            <a:fld id="{18DB9E36-278F-410F-9C04-BB26A77CBF31}" type="slidenum">
              <a:rPr lang="en-GB" smtClean="0"/>
              <a:t>‹#›</a:t>
            </a:fld>
            <a:endParaRPr lang="en-GB"/>
          </a:p>
        </p:txBody>
      </p:sp>
    </p:spTree>
    <p:extLst>
      <p:ext uri="{BB962C8B-B14F-4D97-AF65-F5344CB8AC3E}">
        <p14:creationId xmlns:p14="http://schemas.microsoft.com/office/powerpoint/2010/main" val="593159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9F93D-0F5F-555E-F118-DF26D7C8E0F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6B0E159-66C7-92EF-8EA8-A07DCAD50F25}"/>
              </a:ext>
            </a:extLst>
          </p:cNvPr>
          <p:cNvSpPr>
            <a:spLocks noGrp="1"/>
          </p:cNvSpPr>
          <p:nvPr>
            <p:ph type="dt" sz="half" idx="10"/>
          </p:nvPr>
        </p:nvSpPr>
        <p:spPr/>
        <p:txBody>
          <a:bodyPr/>
          <a:lstStyle/>
          <a:p>
            <a:fld id="{55C0F489-2981-4B53-A4AC-95DFDAE0E437}" type="datetimeFigureOut">
              <a:rPr lang="en-GB" smtClean="0"/>
              <a:t>04/10/2026</a:t>
            </a:fld>
            <a:endParaRPr lang="en-GB"/>
          </a:p>
        </p:txBody>
      </p:sp>
      <p:sp>
        <p:nvSpPr>
          <p:cNvPr id="4" name="Footer Placeholder 3">
            <a:extLst>
              <a:ext uri="{FF2B5EF4-FFF2-40B4-BE49-F238E27FC236}">
                <a16:creationId xmlns:a16="http://schemas.microsoft.com/office/drawing/2014/main" id="{AAE00B7C-2141-C3D9-AA07-4FBA66DFBC3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CC3F27F-CE1A-5B00-09EF-E5FA192B6358}"/>
              </a:ext>
            </a:extLst>
          </p:cNvPr>
          <p:cNvSpPr>
            <a:spLocks noGrp="1"/>
          </p:cNvSpPr>
          <p:nvPr>
            <p:ph type="sldNum" sz="quarter" idx="12"/>
          </p:nvPr>
        </p:nvSpPr>
        <p:spPr/>
        <p:txBody>
          <a:bodyPr/>
          <a:lstStyle/>
          <a:p>
            <a:fld id="{18DB9E36-278F-410F-9C04-BB26A77CBF31}" type="slidenum">
              <a:rPr lang="en-GB" smtClean="0"/>
              <a:t>‹#›</a:t>
            </a:fld>
            <a:endParaRPr lang="en-GB"/>
          </a:p>
        </p:txBody>
      </p:sp>
    </p:spTree>
    <p:extLst>
      <p:ext uri="{BB962C8B-B14F-4D97-AF65-F5344CB8AC3E}">
        <p14:creationId xmlns:p14="http://schemas.microsoft.com/office/powerpoint/2010/main" val="2982279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D12167-1717-B526-E02A-91055CC87F62}"/>
              </a:ext>
            </a:extLst>
          </p:cNvPr>
          <p:cNvSpPr>
            <a:spLocks noGrp="1"/>
          </p:cNvSpPr>
          <p:nvPr>
            <p:ph type="dt" sz="half" idx="10"/>
          </p:nvPr>
        </p:nvSpPr>
        <p:spPr/>
        <p:txBody>
          <a:bodyPr/>
          <a:lstStyle/>
          <a:p>
            <a:fld id="{55C0F489-2981-4B53-A4AC-95DFDAE0E437}" type="datetimeFigureOut">
              <a:rPr lang="en-GB" smtClean="0"/>
              <a:t>04/10/2026</a:t>
            </a:fld>
            <a:endParaRPr lang="en-GB"/>
          </a:p>
        </p:txBody>
      </p:sp>
      <p:sp>
        <p:nvSpPr>
          <p:cNvPr id="3" name="Footer Placeholder 2">
            <a:extLst>
              <a:ext uri="{FF2B5EF4-FFF2-40B4-BE49-F238E27FC236}">
                <a16:creationId xmlns:a16="http://schemas.microsoft.com/office/drawing/2014/main" id="{3388740B-78CB-708B-8A1C-3A52A565523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13911FE-0066-44A1-38A1-1293647C7D5D}"/>
              </a:ext>
            </a:extLst>
          </p:cNvPr>
          <p:cNvSpPr>
            <a:spLocks noGrp="1"/>
          </p:cNvSpPr>
          <p:nvPr>
            <p:ph type="sldNum" sz="quarter" idx="12"/>
          </p:nvPr>
        </p:nvSpPr>
        <p:spPr/>
        <p:txBody>
          <a:bodyPr/>
          <a:lstStyle/>
          <a:p>
            <a:fld id="{18DB9E36-278F-410F-9C04-BB26A77CBF31}" type="slidenum">
              <a:rPr lang="en-GB" smtClean="0"/>
              <a:t>‹#›</a:t>
            </a:fld>
            <a:endParaRPr lang="en-GB"/>
          </a:p>
        </p:txBody>
      </p:sp>
    </p:spTree>
    <p:extLst>
      <p:ext uri="{BB962C8B-B14F-4D97-AF65-F5344CB8AC3E}">
        <p14:creationId xmlns:p14="http://schemas.microsoft.com/office/powerpoint/2010/main" val="878748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509EB-512F-34E4-A063-F7F883CE76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3272A67-466A-6F2A-5A97-5BB7B53E6C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2CCF676-B877-FFF1-9A73-ADAD1331EA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678D99-FBFB-894B-1FF4-5153D1433A01}"/>
              </a:ext>
            </a:extLst>
          </p:cNvPr>
          <p:cNvSpPr>
            <a:spLocks noGrp="1"/>
          </p:cNvSpPr>
          <p:nvPr>
            <p:ph type="dt" sz="half" idx="10"/>
          </p:nvPr>
        </p:nvSpPr>
        <p:spPr/>
        <p:txBody>
          <a:bodyPr/>
          <a:lstStyle/>
          <a:p>
            <a:fld id="{55C0F489-2981-4B53-A4AC-95DFDAE0E437}" type="datetimeFigureOut">
              <a:rPr lang="en-GB" smtClean="0"/>
              <a:t>04/10/2026</a:t>
            </a:fld>
            <a:endParaRPr lang="en-GB"/>
          </a:p>
        </p:txBody>
      </p:sp>
      <p:sp>
        <p:nvSpPr>
          <p:cNvPr id="6" name="Footer Placeholder 5">
            <a:extLst>
              <a:ext uri="{FF2B5EF4-FFF2-40B4-BE49-F238E27FC236}">
                <a16:creationId xmlns:a16="http://schemas.microsoft.com/office/drawing/2014/main" id="{91EA309C-714B-C6FD-B7D7-01997147360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56EC159-26E1-48B6-BAB0-A149F9E9D09B}"/>
              </a:ext>
            </a:extLst>
          </p:cNvPr>
          <p:cNvSpPr>
            <a:spLocks noGrp="1"/>
          </p:cNvSpPr>
          <p:nvPr>
            <p:ph type="sldNum" sz="quarter" idx="12"/>
          </p:nvPr>
        </p:nvSpPr>
        <p:spPr/>
        <p:txBody>
          <a:bodyPr/>
          <a:lstStyle/>
          <a:p>
            <a:fld id="{18DB9E36-278F-410F-9C04-BB26A77CBF31}" type="slidenum">
              <a:rPr lang="en-GB" smtClean="0"/>
              <a:t>‹#›</a:t>
            </a:fld>
            <a:endParaRPr lang="en-GB"/>
          </a:p>
        </p:txBody>
      </p:sp>
    </p:spTree>
    <p:extLst>
      <p:ext uri="{BB962C8B-B14F-4D97-AF65-F5344CB8AC3E}">
        <p14:creationId xmlns:p14="http://schemas.microsoft.com/office/powerpoint/2010/main" val="2432999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21C2B-2665-BF76-079E-C237A2711C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89FD9C9-56D3-09AB-5B0B-2D41A8382C1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AE886CB-9EED-BEA1-224B-9C8DA03952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B87883-36E6-4AE6-6AAF-6D8DFF3A157F}"/>
              </a:ext>
            </a:extLst>
          </p:cNvPr>
          <p:cNvSpPr>
            <a:spLocks noGrp="1"/>
          </p:cNvSpPr>
          <p:nvPr>
            <p:ph type="dt" sz="half" idx="10"/>
          </p:nvPr>
        </p:nvSpPr>
        <p:spPr/>
        <p:txBody>
          <a:bodyPr/>
          <a:lstStyle/>
          <a:p>
            <a:fld id="{55C0F489-2981-4B53-A4AC-95DFDAE0E437}" type="datetimeFigureOut">
              <a:rPr lang="en-GB" smtClean="0"/>
              <a:t>04/10/2026</a:t>
            </a:fld>
            <a:endParaRPr lang="en-GB"/>
          </a:p>
        </p:txBody>
      </p:sp>
      <p:sp>
        <p:nvSpPr>
          <p:cNvPr id="6" name="Footer Placeholder 5">
            <a:extLst>
              <a:ext uri="{FF2B5EF4-FFF2-40B4-BE49-F238E27FC236}">
                <a16:creationId xmlns:a16="http://schemas.microsoft.com/office/drawing/2014/main" id="{4F5C56FB-43F6-DF9E-2DEE-8443A7E9D6E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06CD29B-9058-C1CC-A76F-9D09B55B86AD}"/>
              </a:ext>
            </a:extLst>
          </p:cNvPr>
          <p:cNvSpPr>
            <a:spLocks noGrp="1"/>
          </p:cNvSpPr>
          <p:nvPr>
            <p:ph type="sldNum" sz="quarter" idx="12"/>
          </p:nvPr>
        </p:nvSpPr>
        <p:spPr/>
        <p:txBody>
          <a:bodyPr/>
          <a:lstStyle/>
          <a:p>
            <a:fld id="{18DB9E36-278F-410F-9C04-BB26A77CBF31}" type="slidenum">
              <a:rPr lang="en-GB" smtClean="0"/>
              <a:t>‹#›</a:t>
            </a:fld>
            <a:endParaRPr lang="en-GB"/>
          </a:p>
        </p:txBody>
      </p:sp>
    </p:spTree>
    <p:extLst>
      <p:ext uri="{BB962C8B-B14F-4D97-AF65-F5344CB8AC3E}">
        <p14:creationId xmlns:p14="http://schemas.microsoft.com/office/powerpoint/2010/main" val="599627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ED7C7-3DC6-C9EE-EB27-221146C2181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A29149A-D762-F560-FC7A-BA9E1FC4E4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4A7FC6E-41CC-004E-6AE5-9806692C517F}"/>
              </a:ext>
            </a:extLst>
          </p:cNvPr>
          <p:cNvSpPr>
            <a:spLocks noGrp="1"/>
          </p:cNvSpPr>
          <p:nvPr>
            <p:ph type="dt" sz="half" idx="10"/>
          </p:nvPr>
        </p:nvSpPr>
        <p:spPr/>
        <p:txBody>
          <a:bodyPr/>
          <a:lstStyle/>
          <a:p>
            <a:fld id="{55C0F489-2981-4B53-A4AC-95DFDAE0E437}" type="datetimeFigureOut">
              <a:rPr lang="en-GB" smtClean="0"/>
              <a:t>04/10/2026</a:t>
            </a:fld>
            <a:endParaRPr lang="en-GB"/>
          </a:p>
        </p:txBody>
      </p:sp>
      <p:sp>
        <p:nvSpPr>
          <p:cNvPr id="5" name="Footer Placeholder 4">
            <a:extLst>
              <a:ext uri="{FF2B5EF4-FFF2-40B4-BE49-F238E27FC236}">
                <a16:creationId xmlns:a16="http://schemas.microsoft.com/office/drawing/2014/main" id="{E372CAEA-F016-126F-3DC4-9397E4D2C7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E9B0E51-305C-C6F8-A8D4-5643BDDF9BD0}"/>
              </a:ext>
            </a:extLst>
          </p:cNvPr>
          <p:cNvSpPr>
            <a:spLocks noGrp="1"/>
          </p:cNvSpPr>
          <p:nvPr>
            <p:ph type="sldNum" sz="quarter" idx="12"/>
          </p:nvPr>
        </p:nvSpPr>
        <p:spPr/>
        <p:txBody>
          <a:bodyPr/>
          <a:lstStyle/>
          <a:p>
            <a:fld id="{18DB9E36-278F-410F-9C04-BB26A77CBF31}" type="slidenum">
              <a:rPr lang="en-GB" smtClean="0"/>
              <a:t>‹#›</a:t>
            </a:fld>
            <a:endParaRPr lang="en-GB"/>
          </a:p>
        </p:txBody>
      </p:sp>
    </p:spTree>
    <p:extLst>
      <p:ext uri="{BB962C8B-B14F-4D97-AF65-F5344CB8AC3E}">
        <p14:creationId xmlns:p14="http://schemas.microsoft.com/office/powerpoint/2010/main" val="3509849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E62EC7-7BA6-BB35-2BC3-6103513951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8F546D-6248-FDEC-DFBF-5AC5D7DCAE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1718F5D-B093-2F01-F229-06FCD565B1CE}"/>
              </a:ext>
            </a:extLst>
          </p:cNvPr>
          <p:cNvSpPr>
            <a:spLocks noGrp="1"/>
          </p:cNvSpPr>
          <p:nvPr>
            <p:ph type="dt" sz="half" idx="10"/>
          </p:nvPr>
        </p:nvSpPr>
        <p:spPr/>
        <p:txBody>
          <a:bodyPr/>
          <a:lstStyle/>
          <a:p>
            <a:fld id="{55C0F489-2981-4B53-A4AC-95DFDAE0E437}" type="datetimeFigureOut">
              <a:rPr lang="en-GB" smtClean="0"/>
              <a:t>04/10/2026</a:t>
            </a:fld>
            <a:endParaRPr lang="en-GB"/>
          </a:p>
        </p:txBody>
      </p:sp>
      <p:sp>
        <p:nvSpPr>
          <p:cNvPr id="5" name="Footer Placeholder 4">
            <a:extLst>
              <a:ext uri="{FF2B5EF4-FFF2-40B4-BE49-F238E27FC236}">
                <a16:creationId xmlns:a16="http://schemas.microsoft.com/office/drawing/2014/main" id="{043D5113-EF1C-6E50-9EC1-576E320032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4BBE16D-3437-BF68-8216-D2156377C3FA}"/>
              </a:ext>
            </a:extLst>
          </p:cNvPr>
          <p:cNvSpPr>
            <a:spLocks noGrp="1"/>
          </p:cNvSpPr>
          <p:nvPr>
            <p:ph type="sldNum" sz="quarter" idx="12"/>
          </p:nvPr>
        </p:nvSpPr>
        <p:spPr/>
        <p:txBody>
          <a:bodyPr/>
          <a:lstStyle/>
          <a:p>
            <a:fld id="{18DB9E36-278F-410F-9C04-BB26A77CBF31}" type="slidenum">
              <a:rPr lang="en-GB" smtClean="0"/>
              <a:t>‹#›</a:t>
            </a:fld>
            <a:endParaRPr lang="en-GB"/>
          </a:p>
        </p:txBody>
      </p:sp>
    </p:spTree>
    <p:extLst>
      <p:ext uri="{BB962C8B-B14F-4D97-AF65-F5344CB8AC3E}">
        <p14:creationId xmlns:p14="http://schemas.microsoft.com/office/powerpoint/2010/main" val="932827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059DF5-125B-22F0-4771-326F7FBECE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4B9EC57-C498-A884-803B-AA20A8E25E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AB004B7-35A5-D16E-D7BF-5F5DC5B15E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C0F489-2981-4B53-A4AC-95DFDAE0E437}" type="datetimeFigureOut">
              <a:rPr lang="en-GB" smtClean="0"/>
              <a:t>04/10/2026</a:t>
            </a:fld>
            <a:endParaRPr lang="en-GB"/>
          </a:p>
        </p:txBody>
      </p:sp>
      <p:sp>
        <p:nvSpPr>
          <p:cNvPr id="5" name="Footer Placeholder 4">
            <a:extLst>
              <a:ext uri="{FF2B5EF4-FFF2-40B4-BE49-F238E27FC236}">
                <a16:creationId xmlns:a16="http://schemas.microsoft.com/office/drawing/2014/main" id="{D3FA9CBA-7703-5EDD-F553-83A625C24A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31590B1-FCEC-1BDC-A914-41906AD3DF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DB9E36-278F-410F-9C04-BB26A77CBF31}" type="slidenum">
              <a:rPr lang="en-GB" smtClean="0"/>
              <a:t>‹#›</a:t>
            </a:fld>
            <a:endParaRPr lang="en-GB"/>
          </a:p>
        </p:txBody>
      </p:sp>
    </p:spTree>
    <p:extLst>
      <p:ext uri="{BB962C8B-B14F-4D97-AF65-F5344CB8AC3E}">
        <p14:creationId xmlns:p14="http://schemas.microsoft.com/office/powerpoint/2010/main" val="42800515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311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19998C-5A30-CEB2-296A-DDAA94C6C915}"/>
              </a:ext>
            </a:extLst>
          </p:cNvPr>
          <p:cNvSpPr txBox="1"/>
          <p:nvPr/>
        </p:nvSpPr>
        <p:spPr>
          <a:xfrm>
            <a:off x="889000" y="965200"/>
            <a:ext cx="7620000" cy="789960"/>
          </a:xfrm>
          <a:prstGeom prst="rect">
            <a:avLst/>
          </a:prstGeom>
          <a:noFill/>
        </p:spPr>
        <p:txBody>
          <a:bodyPr vert="horz" wrap="square" lIns="38100" tIns="25400" rIns="38100" bIns="25400" rtlCol="0">
            <a:spAutoFit/>
          </a:bodyPr>
          <a:lstStyle/>
          <a:p>
            <a:r>
              <a:rPr lang="en-GB" sz="4800" b="1">
                <a:solidFill>
                  <a:srgbClr val="FFFFFF"/>
                </a:solidFill>
                <a:latin typeface="Aptos" panose="020B0004020202020204" pitchFamily="34" charset="0"/>
              </a:rPr>
              <a:t>SmartDine</a:t>
            </a:r>
          </a:p>
        </p:txBody>
      </p:sp>
      <p:sp>
        <p:nvSpPr>
          <p:cNvPr id="3" name="TextBox 2">
            <a:extLst>
              <a:ext uri="{FF2B5EF4-FFF2-40B4-BE49-F238E27FC236}">
                <a16:creationId xmlns:a16="http://schemas.microsoft.com/office/drawing/2014/main" id="{8089B856-5101-5845-2562-0F1EBE53282C}"/>
              </a:ext>
            </a:extLst>
          </p:cNvPr>
          <p:cNvSpPr txBox="1"/>
          <p:nvPr/>
        </p:nvSpPr>
        <p:spPr>
          <a:xfrm>
            <a:off x="914400" y="1930400"/>
            <a:ext cx="9652000" cy="466794"/>
          </a:xfrm>
          <a:prstGeom prst="rect">
            <a:avLst/>
          </a:prstGeom>
          <a:noFill/>
        </p:spPr>
        <p:txBody>
          <a:bodyPr vert="horz" wrap="square" lIns="38100" tIns="25400" rIns="38100" bIns="25400" rtlCol="0">
            <a:spAutoFit/>
          </a:bodyPr>
          <a:lstStyle/>
          <a:p>
            <a:r>
              <a:rPr lang="en-GB" sz="2700">
                <a:solidFill>
                  <a:srgbClr val="EEEFE1"/>
                </a:solidFill>
                <a:latin typeface="Aptos" panose="020B0004020202020204" pitchFamily="34" charset="0"/>
              </a:rPr>
              <a:t>Intelligent Restaurant Management System</a:t>
            </a:r>
          </a:p>
        </p:txBody>
      </p:sp>
      <p:sp>
        <p:nvSpPr>
          <p:cNvPr id="4" name="TextBox 3">
            <a:extLst>
              <a:ext uri="{FF2B5EF4-FFF2-40B4-BE49-F238E27FC236}">
                <a16:creationId xmlns:a16="http://schemas.microsoft.com/office/drawing/2014/main" id="{AED644A1-D9D7-E7E9-B607-E2DD4880F6B9}"/>
              </a:ext>
            </a:extLst>
          </p:cNvPr>
          <p:cNvSpPr txBox="1"/>
          <p:nvPr/>
        </p:nvSpPr>
        <p:spPr>
          <a:xfrm>
            <a:off x="939800" y="2844800"/>
            <a:ext cx="8382000" cy="297517"/>
          </a:xfrm>
          <a:prstGeom prst="rect">
            <a:avLst/>
          </a:prstGeom>
          <a:noFill/>
        </p:spPr>
        <p:txBody>
          <a:bodyPr vert="horz" wrap="square" lIns="38100" tIns="25400" rIns="38100" bIns="25400" rtlCol="0">
            <a:spAutoFit/>
          </a:bodyPr>
          <a:lstStyle/>
          <a:p>
            <a:r>
              <a:rPr lang="en-US" sz="1600">
                <a:solidFill>
                  <a:srgbClr val="FFFFFF"/>
                </a:solidFill>
                <a:latin typeface="Aptos" panose="020B0004020202020204" pitchFamily="34" charset="0"/>
              </a:rPr>
              <a:t>ICT203 Assessment 3 | Full-stack web application</a:t>
            </a:r>
            <a:endParaRPr lang="en-GB" sz="1600">
              <a:solidFill>
                <a:srgbClr val="FFFFFF"/>
              </a:solidFill>
              <a:latin typeface="Aptos" panose="020B0004020202020204" pitchFamily="34" charset="0"/>
            </a:endParaRPr>
          </a:p>
        </p:txBody>
      </p:sp>
      <p:sp>
        <p:nvSpPr>
          <p:cNvPr id="5" name="Rectangle: Rounded Corners 4">
            <a:extLst>
              <a:ext uri="{FF2B5EF4-FFF2-40B4-BE49-F238E27FC236}">
                <a16:creationId xmlns:a16="http://schemas.microsoft.com/office/drawing/2014/main" id="{B8C29A7B-EDDA-7628-4FEE-3DF6978FFEB6}"/>
              </a:ext>
            </a:extLst>
          </p:cNvPr>
          <p:cNvSpPr/>
          <p:nvPr/>
        </p:nvSpPr>
        <p:spPr>
          <a:xfrm>
            <a:off x="939800" y="3810000"/>
            <a:ext cx="1524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React</a:t>
            </a:r>
          </a:p>
        </p:txBody>
      </p:sp>
      <p:sp>
        <p:nvSpPr>
          <p:cNvPr id="6" name="TextBox 5">
            <a:extLst>
              <a:ext uri="{FF2B5EF4-FFF2-40B4-BE49-F238E27FC236}">
                <a16:creationId xmlns:a16="http://schemas.microsoft.com/office/drawing/2014/main" id="{E849201C-92F2-59D8-AE38-DCAECA6B4933}"/>
              </a:ext>
            </a:extLst>
          </p:cNvPr>
          <p:cNvSpPr txBox="1"/>
          <p:nvPr/>
        </p:nvSpPr>
        <p:spPr>
          <a:xfrm>
            <a:off x="2590800" y="40005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7" name="Rectangle: Rounded Corners 6">
            <a:extLst>
              <a:ext uri="{FF2B5EF4-FFF2-40B4-BE49-F238E27FC236}">
                <a16:creationId xmlns:a16="http://schemas.microsoft.com/office/drawing/2014/main" id="{DA1AFC87-8A5C-54A3-51C7-3B06FCE23339}"/>
              </a:ext>
            </a:extLst>
          </p:cNvPr>
          <p:cNvSpPr/>
          <p:nvPr/>
        </p:nvSpPr>
        <p:spPr>
          <a:xfrm>
            <a:off x="3022600" y="3810000"/>
            <a:ext cx="1905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Express API</a:t>
            </a:r>
          </a:p>
        </p:txBody>
      </p:sp>
      <p:sp>
        <p:nvSpPr>
          <p:cNvPr id="8" name="TextBox 7">
            <a:extLst>
              <a:ext uri="{FF2B5EF4-FFF2-40B4-BE49-F238E27FC236}">
                <a16:creationId xmlns:a16="http://schemas.microsoft.com/office/drawing/2014/main" id="{42ED542F-F046-85D9-58B1-2295109352A0}"/>
              </a:ext>
            </a:extLst>
          </p:cNvPr>
          <p:cNvSpPr txBox="1"/>
          <p:nvPr/>
        </p:nvSpPr>
        <p:spPr>
          <a:xfrm>
            <a:off x="5054600" y="40005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9" name="Rectangle: Rounded Corners 8">
            <a:extLst>
              <a:ext uri="{FF2B5EF4-FFF2-40B4-BE49-F238E27FC236}">
                <a16:creationId xmlns:a16="http://schemas.microsoft.com/office/drawing/2014/main" id="{390F7D77-7CCB-1C64-DC6B-0E76F7C6F029}"/>
              </a:ext>
            </a:extLst>
          </p:cNvPr>
          <p:cNvSpPr/>
          <p:nvPr/>
        </p:nvSpPr>
        <p:spPr>
          <a:xfrm>
            <a:off x="5486400" y="3810000"/>
            <a:ext cx="1524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MySQL</a:t>
            </a:r>
          </a:p>
        </p:txBody>
      </p:sp>
      <p:sp>
        <p:nvSpPr>
          <p:cNvPr id="10" name="TextBox 9">
            <a:extLst>
              <a:ext uri="{FF2B5EF4-FFF2-40B4-BE49-F238E27FC236}">
                <a16:creationId xmlns:a16="http://schemas.microsoft.com/office/drawing/2014/main" id="{EF4254BD-2097-9EC2-3D7B-6879D6EB36F1}"/>
              </a:ext>
            </a:extLst>
          </p:cNvPr>
          <p:cNvSpPr txBox="1"/>
          <p:nvPr/>
        </p:nvSpPr>
        <p:spPr>
          <a:xfrm>
            <a:off x="965200" y="4902200"/>
            <a:ext cx="6604000" cy="882293"/>
          </a:xfrm>
          <a:prstGeom prst="rect">
            <a:avLst/>
          </a:prstGeom>
          <a:noFill/>
        </p:spPr>
        <p:txBody>
          <a:bodyPr vert="horz" wrap="square" lIns="38100" tIns="25400" rIns="38100" bIns="25400" rtlCol="0">
            <a:spAutoFit/>
          </a:bodyPr>
          <a:lstStyle/>
          <a:p>
            <a:r>
              <a:rPr lang="en-US">
                <a:solidFill>
                  <a:srgbClr val="FFFFFF"/>
                </a:solidFill>
                <a:latin typeface="Aptos" panose="020B0004020202020204" pitchFamily="34" charset="0"/>
              </a:rPr>
              <a:t>Customer ordering</a:t>
            </a:r>
          </a:p>
          <a:p>
            <a:r>
              <a:rPr lang="en-US">
                <a:solidFill>
                  <a:srgbClr val="FFFFFF"/>
                </a:solidFill>
                <a:latin typeface="Aptos" panose="020B0004020202020204" pitchFamily="34" charset="0"/>
              </a:rPr>
              <a:t>Admin order management</a:t>
            </a:r>
          </a:p>
          <a:p>
            <a:r>
              <a:rPr lang="en-US">
                <a:solidFill>
                  <a:srgbClr val="FFFFFF"/>
                </a:solidFill>
                <a:latin typeface="Aptos" panose="020B0004020202020204" pitchFamily="34" charset="0"/>
              </a:rPr>
              <a:t>Rule-based assistant</a:t>
            </a:r>
            <a:endParaRPr lang="en-GB">
              <a:solidFill>
                <a:srgbClr val="FFFFFF"/>
              </a:solidFill>
              <a:latin typeface="Aptos" panose="020B0004020202020204" pitchFamily="34" charset="0"/>
            </a:endParaRPr>
          </a:p>
        </p:txBody>
      </p:sp>
    </p:spTree>
    <p:extLst>
      <p:ext uri="{BB962C8B-B14F-4D97-AF65-F5344CB8AC3E}">
        <p14:creationId xmlns:p14="http://schemas.microsoft.com/office/powerpoint/2010/main" val="3508720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216DF2-FCAA-8E3D-7C86-FD27BBE1DED4}"/>
              </a:ext>
            </a:extLst>
          </p:cNvPr>
          <p:cNvSpPr txBox="1"/>
          <p:nvPr/>
        </p:nvSpPr>
        <p:spPr>
          <a:xfrm>
            <a:off x="635000" y="381000"/>
            <a:ext cx="10541000" cy="512961"/>
          </a:xfrm>
          <a:prstGeom prst="rect">
            <a:avLst/>
          </a:prstGeom>
          <a:noFill/>
        </p:spPr>
        <p:txBody>
          <a:bodyPr vert="horz" wrap="square" lIns="38100" tIns="25400" rIns="38100" bIns="25400" rtlCol="0">
            <a:spAutoFit/>
          </a:bodyPr>
          <a:lstStyle/>
          <a:p>
            <a:r>
              <a:rPr lang="en-GB" sz="3000" b="1">
                <a:solidFill>
                  <a:srgbClr val="15311E"/>
                </a:solidFill>
                <a:latin typeface="Aptos" panose="020B0004020202020204" pitchFamily="34" charset="0"/>
              </a:rPr>
              <a:t>Problem and Users</a:t>
            </a:r>
          </a:p>
        </p:txBody>
      </p:sp>
      <p:sp>
        <p:nvSpPr>
          <p:cNvPr id="3" name="TextBox 2">
            <a:extLst>
              <a:ext uri="{FF2B5EF4-FFF2-40B4-BE49-F238E27FC236}">
                <a16:creationId xmlns:a16="http://schemas.microsoft.com/office/drawing/2014/main" id="{A0AD6610-A1D3-F2E5-B31C-A3C80055AD4C}"/>
              </a:ext>
            </a:extLst>
          </p:cNvPr>
          <p:cNvSpPr txBox="1"/>
          <p:nvPr/>
        </p:nvSpPr>
        <p:spPr>
          <a:xfrm>
            <a:off x="660400" y="1016000"/>
            <a:ext cx="9652000" cy="235962"/>
          </a:xfrm>
          <a:prstGeom prst="rect">
            <a:avLst/>
          </a:prstGeom>
          <a:noFill/>
        </p:spPr>
        <p:txBody>
          <a:bodyPr vert="horz" wrap="square" lIns="38100" tIns="25400" rIns="38100" bIns="25400" rtlCol="0">
            <a:spAutoFit/>
          </a:bodyPr>
          <a:lstStyle/>
          <a:p>
            <a:r>
              <a:rPr lang="en-US" sz="1200">
                <a:solidFill>
                  <a:srgbClr val="64645E"/>
                </a:solidFill>
                <a:latin typeface="Aptos" panose="020B0004020202020204" pitchFamily="34" charset="0"/>
              </a:rPr>
              <a:t>SmartDine supports the everyday workflow of a small restaurant.</a:t>
            </a:r>
            <a:endParaRPr lang="en-GB" sz="1200">
              <a:solidFill>
                <a:srgbClr val="64645E"/>
              </a:solidFill>
              <a:latin typeface="Aptos" panose="020B0004020202020204" pitchFamily="34" charset="0"/>
            </a:endParaRPr>
          </a:p>
        </p:txBody>
      </p:sp>
      <p:sp>
        <p:nvSpPr>
          <p:cNvPr id="4" name="Rectangle 3">
            <a:extLst>
              <a:ext uri="{FF2B5EF4-FFF2-40B4-BE49-F238E27FC236}">
                <a16:creationId xmlns:a16="http://schemas.microsoft.com/office/drawing/2014/main" id="{279B9548-84F2-9390-4749-749DF8917738}"/>
              </a:ext>
            </a:extLst>
          </p:cNvPr>
          <p:cNvSpPr/>
          <p:nvPr/>
        </p:nvSpPr>
        <p:spPr>
          <a:xfrm>
            <a:off x="635000" y="1473200"/>
            <a:ext cx="10668000" cy="25400"/>
          </a:xfrm>
          <a:prstGeom prst="rect">
            <a:avLst/>
          </a:prstGeom>
          <a:solidFill>
            <a:srgbClr val="6196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A0176633-655B-6321-9179-79A69E928108}"/>
              </a:ext>
            </a:extLst>
          </p:cNvPr>
          <p:cNvSpPr txBox="1"/>
          <p:nvPr/>
        </p:nvSpPr>
        <p:spPr>
          <a:xfrm>
            <a:off x="10033000" y="6375400"/>
            <a:ext cx="1524000" cy="205184"/>
          </a:xfrm>
          <a:prstGeom prst="rect">
            <a:avLst/>
          </a:prstGeom>
          <a:noFill/>
        </p:spPr>
        <p:txBody>
          <a:bodyPr vert="horz" wrap="square" lIns="38100" tIns="25400" rIns="38100" bIns="25400" rtlCol="0">
            <a:spAutoFit/>
          </a:bodyPr>
          <a:lstStyle/>
          <a:p>
            <a:r>
              <a:rPr lang="en-GB" sz="1000">
                <a:solidFill>
                  <a:srgbClr val="64645E"/>
                </a:solidFill>
                <a:latin typeface="Aptos" panose="020B0004020202020204" pitchFamily="34" charset="0"/>
              </a:rPr>
              <a:t>SmartDine | 2</a:t>
            </a:r>
          </a:p>
        </p:txBody>
      </p:sp>
      <p:sp>
        <p:nvSpPr>
          <p:cNvPr id="6" name="Rectangle: Rounded Corners 5">
            <a:extLst>
              <a:ext uri="{FF2B5EF4-FFF2-40B4-BE49-F238E27FC236}">
                <a16:creationId xmlns:a16="http://schemas.microsoft.com/office/drawing/2014/main" id="{261F85A4-F536-C52F-87EA-52B7A389F464}"/>
              </a:ext>
            </a:extLst>
          </p:cNvPr>
          <p:cNvSpPr/>
          <p:nvPr/>
        </p:nvSpPr>
        <p:spPr>
          <a:xfrm>
            <a:off x="1206500" y="2095500"/>
            <a:ext cx="3683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2000" b="1">
                <a:solidFill>
                  <a:srgbClr val="15311E"/>
                </a:solidFill>
                <a:latin typeface="Aptos" panose="020B0004020202020204" pitchFamily="34" charset="0"/>
              </a:rPr>
              <a:t>Customer</a:t>
            </a:r>
          </a:p>
        </p:txBody>
      </p:sp>
      <p:sp>
        <p:nvSpPr>
          <p:cNvPr id="7" name="TextBox 6">
            <a:extLst>
              <a:ext uri="{FF2B5EF4-FFF2-40B4-BE49-F238E27FC236}">
                <a16:creationId xmlns:a16="http://schemas.microsoft.com/office/drawing/2014/main" id="{7E5CA597-AFC7-A4BC-92C0-0B63F5BC13F5}"/>
              </a:ext>
            </a:extLst>
          </p:cNvPr>
          <p:cNvSpPr txBox="1"/>
          <p:nvPr/>
        </p:nvSpPr>
        <p:spPr>
          <a:xfrm>
            <a:off x="1422400" y="3073400"/>
            <a:ext cx="3238500" cy="312906"/>
          </a:xfrm>
          <a:prstGeom prst="rect">
            <a:avLst/>
          </a:prstGeom>
          <a:noFill/>
        </p:spPr>
        <p:txBody>
          <a:bodyPr vert="horz" wrap="square" lIns="38100" tIns="25400" rIns="38100" bIns="25400" rtlCol="0">
            <a:spAutoFit/>
          </a:bodyPr>
          <a:lstStyle/>
          <a:p>
            <a:r>
              <a:rPr lang="en-GB" sz="1700">
                <a:solidFill>
                  <a:srgbClr val="312C22"/>
                </a:solidFill>
                <a:latin typeface="Aptos" panose="020B0004020202020204" pitchFamily="34" charset="0"/>
              </a:rPr>
              <a:t>- Browse menu clearly</a:t>
            </a:r>
          </a:p>
        </p:txBody>
      </p:sp>
      <p:sp>
        <p:nvSpPr>
          <p:cNvPr id="8" name="TextBox 7">
            <a:extLst>
              <a:ext uri="{FF2B5EF4-FFF2-40B4-BE49-F238E27FC236}">
                <a16:creationId xmlns:a16="http://schemas.microsoft.com/office/drawing/2014/main" id="{451B0BEB-DC4B-7995-A556-8088005CF678}"/>
              </a:ext>
            </a:extLst>
          </p:cNvPr>
          <p:cNvSpPr txBox="1"/>
          <p:nvPr/>
        </p:nvSpPr>
        <p:spPr>
          <a:xfrm>
            <a:off x="1422400" y="3683000"/>
            <a:ext cx="3238500" cy="312906"/>
          </a:xfrm>
          <a:prstGeom prst="rect">
            <a:avLst/>
          </a:prstGeom>
          <a:noFill/>
        </p:spPr>
        <p:txBody>
          <a:bodyPr vert="horz" wrap="square" lIns="38100" tIns="25400" rIns="38100" bIns="25400" rtlCol="0">
            <a:spAutoFit/>
          </a:bodyPr>
          <a:lstStyle/>
          <a:p>
            <a:r>
              <a:rPr lang="en-GB" sz="1700">
                <a:solidFill>
                  <a:srgbClr val="312C22"/>
                </a:solidFill>
                <a:latin typeface="Aptos" panose="020B0004020202020204" pitchFamily="34" charset="0"/>
              </a:rPr>
              <a:t>- Search and filter food</a:t>
            </a:r>
          </a:p>
        </p:txBody>
      </p:sp>
      <p:sp>
        <p:nvSpPr>
          <p:cNvPr id="9" name="TextBox 8">
            <a:extLst>
              <a:ext uri="{FF2B5EF4-FFF2-40B4-BE49-F238E27FC236}">
                <a16:creationId xmlns:a16="http://schemas.microsoft.com/office/drawing/2014/main" id="{2B45616B-722F-9BE6-4007-E78699F19B16}"/>
              </a:ext>
            </a:extLst>
          </p:cNvPr>
          <p:cNvSpPr txBox="1"/>
          <p:nvPr/>
        </p:nvSpPr>
        <p:spPr>
          <a:xfrm>
            <a:off x="1422400" y="4292600"/>
            <a:ext cx="3238500" cy="312906"/>
          </a:xfrm>
          <a:prstGeom prst="rect">
            <a:avLst/>
          </a:prstGeom>
          <a:noFill/>
        </p:spPr>
        <p:txBody>
          <a:bodyPr vert="horz" wrap="square" lIns="38100" tIns="25400" rIns="38100" bIns="25400" rtlCol="0">
            <a:spAutoFit/>
          </a:bodyPr>
          <a:lstStyle/>
          <a:p>
            <a:r>
              <a:rPr lang="en-US" sz="1700">
                <a:solidFill>
                  <a:srgbClr val="312C22"/>
                </a:solidFill>
                <a:latin typeface="Aptos" panose="020B0004020202020204" pitchFamily="34" charset="0"/>
              </a:rPr>
              <a:t>- Place orders with less confusion</a:t>
            </a:r>
            <a:endParaRPr lang="en-GB" sz="1700">
              <a:solidFill>
                <a:srgbClr val="312C22"/>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C9F8504C-80CB-283B-1247-AB58A32147A6}"/>
              </a:ext>
            </a:extLst>
          </p:cNvPr>
          <p:cNvSpPr/>
          <p:nvPr/>
        </p:nvSpPr>
        <p:spPr>
          <a:xfrm>
            <a:off x="7112000" y="2095500"/>
            <a:ext cx="3683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2000" b="1">
                <a:solidFill>
                  <a:srgbClr val="15311E"/>
                </a:solidFill>
                <a:latin typeface="Aptos" panose="020B0004020202020204" pitchFamily="34" charset="0"/>
              </a:rPr>
              <a:t>Admin</a:t>
            </a:r>
          </a:p>
        </p:txBody>
      </p:sp>
      <p:sp>
        <p:nvSpPr>
          <p:cNvPr id="11" name="TextBox 10">
            <a:extLst>
              <a:ext uri="{FF2B5EF4-FFF2-40B4-BE49-F238E27FC236}">
                <a16:creationId xmlns:a16="http://schemas.microsoft.com/office/drawing/2014/main" id="{50CE7755-1236-3A2B-9CEE-BCB30B7B4172}"/>
              </a:ext>
            </a:extLst>
          </p:cNvPr>
          <p:cNvSpPr txBox="1"/>
          <p:nvPr/>
        </p:nvSpPr>
        <p:spPr>
          <a:xfrm>
            <a:off x="7327900" y="3073400"/>
            <a:ext cx="3302000" cy="312906"/>
          </a:xfrm>
          <a:prstGeom prst="rect">
            <a:avLst/>
          </a:prstGeom>
          <a:noFill/>
        </p:spPr>
        <p:txBody>
          <a:bodyPr vert="horz" wrap="square" lIns="38100" tIns="25400" rIns="38100" bIns="25400" rtlCol="0">
            <a:spAutoFit/>
          </a:bodyPr>
          <a:lstStyle/>
          <a:p>
            <a:r>
              <a:rPr lang="en-GB" sz="1700">
                <a:solidFill>
                  <a:srgbClr val="312C22"/>
                </a:solidFill>
                <a:latin typeface="Aptos" panose="020B0004020202020204" pitchFamily="34" charset="0"/>
              </a:rPr>
              <a:t>- Maintain menu details</a:t>
            </a:r>
          </a:p>
        </p:txBody>
      </p:sp>
      <p:sp>
        <p:nvSpPr>
          <p:cNvPr id="12" name="TextBox 11">
            <a:extLst>
              <a:ext uri="{FF2B5EF4-FFF2-40B4-BE49-F238E27FC236}">
                <a16:creationId xmlns:a16="http://schemas.microsoft.com/office/drawing/2014/main" id="{459B1974-E5ED-08B1-EDC3-A8C358794660}"/>
              </a:ext>
            </a:extLst>
          </p:cNvPr>
          <p:cNvSpPr txBox="1"/>
          <p:nvPr/>
        </p:nvSpPr>
        <p:spPr>
          <a:xfrm>
            <a:off x="7327900" y="3683000"/>
            <a:ext cx="3302000" cy="312906"/>
          </a:xfrm>
          <a:prstGeom prst="rect">
            <a:avLst/>
          </a:prstGeom>
          <a:noFill/>
        </p:spPr>
        <p:txBody>
          <a:bodyPr vert="horz" wrap="square" lIns="38100" tIns="25400" rIns="38100" bIns="25400" rtlCol="0">
            <a:spAutoFit/>
          </a:bodyPr>
          <a:lstStyle/>
          <a:p>
            <a:r>
              <a:rPr lang="en-GB" sz="1700">
                <a:solidFill>
                  <a:srgbClr val="312C22"/>
                </a:solidFill>
                <a:latin typeface="Aptos" panose="020B0004020202020204" pitchFamily="34" charset="0"/>
              </a:rPr>
              <a:t>- Track order progress</a:t>
            </a:r>
          </a:p>
        </p:txBody>
      </p:sp>
      <p:sp>
        <p:nvSpPr>
          <p:cNvPr id="13" name="TextBox 12">
            <a:extLst>
              <a:ext uri="{FF2B5EF4-FFF2-40B4-BE49-F238E27FC236}">
                <a16:creationId xmlns:a16="http://schemas.microsoft.com/office/drawing/2014/main" id="{A8C21BA9-2F31-EEC2-E9C5-629344633FE0}"/>
              </a:ext>
            </a:extLst>
          </p:cNvPr>
          <p:cNvSpPr txBox="1"/>
          <p:nvPr/>
        </p:nvSpPr>
        <p:spPr>
          <a:xfrm>
            <a:off x="7327900" y="4292600"/>
            <a:ext cx="3302000" cy="312906"/>
          </a:xfrm>
          <a:prstGeom prst="rect">
            <a:avLst/>
          </a:prstGeom>
          <a:noFill/>
        </p:spPr>
        <p:txBody>
          <a:bodyPr vert="horz" wrap="square" lIns="38100" tIns="25400" rIns="38100" bIns="25400" rtlCol="0">
            <a:spAutoFit/>
          </a:bodyPr>
          <a:lstStyle/>
          <a:p>
            <a:r>
              <a:rPr lang="en-GB" sz="1700">
                <a:solidFill>
                  <a:srgbClr val="312C22"/>
                </a:solidFill>
                <a:latin typeface="Aptos" panose="020B0004020202020204" pitchFamily="34" charset="0"/>
              </a:rPr>
              <a:t>- Use protected dashboard tools</a:t>
            </a:r>
          </a:p>
        </p:txBody>
      </p:sp>
    </p:spTree>
    <p:extLst>
      <p:ext uri="{BB962C8B-B14F-4D97-AF65-F5344CB8AC3E}">
        <p14:creationId xmlns:p14="http://schemas.microsoft.com/office/powerpoint/2010/main" val="4024597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B64F07-7024-5097-5590-ED4DF7C566BC}"/>
              </a:ext>
            </a:extLst>
          </p:cNvPr>
          <p:cNvSpPr txBox="1"/>
          <p:nvPr/>
        </p:nvSpPr>
        <p:spPr>
          <a:xfrm>
            <a:off x="635000" y="381000"/>
            <a:ext cx="10541000" cy="512961"/>
          </a:xfrm>
          <a:prstGeom prst="rect">
            <a:avLst/>
          </a:prstGeom>
          <a:noFill/>
        </p:spPr>
        <p:txBody>
          <a:bodyPr vert="horz" wrap="square" lIns="38100" tIns="25400" rIns="38100" bIns="25400" rtlCol="0">
            <a:spAutoFit/>
          </a:bodyPr>
          <a:lstStyle/>
          <a:p>
            <a:r>
              <a:rPr lang="en-GB" sz="3000" b="1">
                <a:solidFill>
                  <a:srgbClr val="15311E"/>
                </a:solidFill>
                <a:latin typeface="Aptos" panose="020B0004020202020204" pitchFamily="34" charset="0"/>
              </a:rPr>
              <a:t>Technology and Team Roles</a:t>
            </a:r>
          </a:p>
        </p:txBody>
      </p:sp>
      <p:sp>
        <p:nvSpPr>
          <p:cNvPr id="3" name="TextBox 2">
            <a:extLst>
              <a:ext uri="{FF2B5EF4-FFF2-40B4-BE49-F238E27FC236}">
                <a16:creationId xmlns:a16="http://schemas.microsoft.com/office/drawing/2014/main" id="{D92DF4AB-C04B-ABB6-E486-9DB3867C8C45}"/>
              </a:ext>
            </a:extLst>
          </p:cNvPr>
          <p:cNvSpPr txBox="1"/>
          <p:nvPr/>
        </p:nvSpPr>
        <p:spPr>
          <a:xfrm>
            <a:off x="660400" y="1016000"/>
            <a:ext cx="9652000" cy="235962"/>
          </a:xfrm>
          <a:prstGeom prst="rect">
            <a:avLst/>
          </a:prstGeom>
          <a:noFill/>
        </p:spPr>
        <p:txBody>
          <a:bodyPr vert="horz" wrap="square" lIns="38100" tIns="25400" rIns="38100" bIns="25400" rtlCol="0">
            <a:spAutoFit/>
          </a:bodyPr>
          <a:lstStyle/>
          <a:p>
            <a:r>
              <a:rPr lang="en-US" sz="1200">
                <a:solidFill>
                  <a:srgbClr val="64645E"/>
                </a:solidFill>
                <a:latin typeface="Aptos" panose="020B0004020202020204" pitchFamily="34" charset="0"/>
              </a:rPr>
              <a:t>The stack was chosen to support a working full-stack demo.</a:t>
            </a:r>
            <a:endParaRPr lang="en-GB" sz="1200">
              <a:solidFill>
                <a:srgbClr val="64645E"/>
              </a:solidFill>
              <a:latin typeface="Aptos" panose="020B0004020202020204" pitchFamily="34" charset="0"/>
            </a:endParaRPr>
          </a:p>
        </p:txBody>
      </p:sp>
      <p:sp>
        <p:nvSpPr>
          <p:cNvPr id="4" name="Rectangle 3">
            <a:extLst>
              <a:ext uri="{FF2B5EF4-FFF2-40B4-BE49-F238E27FC236}">
                <a16:creationId xmlns:a16="http://schemas.microsoft.com/office/drawing/2014/main" id="{2636A713-A8F2-9BC3-C579-31254E4E018B}"/>
              </a:ext>
            </a:extLst>
          </p:cNvPr>
          <p:cNvSpPr/>
          <p:nvPr/>
        </p:nvSpPr>
        <p:spPr>
          <a:xfrm>
            <a:off x="635000" y="1473200"/>
            <a:ext cx="10668000" cy="25400"/>
          </a:xfrm>
          <a:prstGeom prst="rect">
            <a:avLst/>
          </a:prstGeom>
          <a:solidFill>
            <a:srgbClr val="6196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790B5266-1684-116E-FBD2-756A152D920E}"/>
              </a:ext>
            </a:extLst>
          </p:cNvPr>
          <p:cNvSpPr txBox="1"/>
          <p:nvPr/>
        </p:nvSpPr>
        <p:spPr>
          <a:xfrm>
            <a:off x="10033000" y="6375400"/>
            <a:ext cx="1524000" cy="205184"/>
          </a:xfrm>
          <a:prstGeom prst="rect">
            <a:avLst/>
          </a:prstGeom>
          <a:noFill/>
        </p:spPr>
        <p:txBody>
          <a:bodyPr vert="horz" wrap="square" lIns="38100" tIns="25400" rIns="38100" bIns="25400" rtlCol="0">
            <a:spAutoFit/>
          </a:bodyPr>
          <a:lstStyle/>
          <a:p>
            <a:r>
              <a:rPr lang="en-GB" sz="1000">
                <a:solidFill>
                  <a:srgbClr val="64645E"/>
                </a:solidFill>
                <a:latin typeface="Aptos" panose="020B0004020202020204" pitchFamily="34" charset="0"/>
              </a:rPr>
              <a:t>SmartDine | 3</a:t>
            </a:r>
          </a:p>
        </p:txBody>
      </p:sp>
      <p:sp>
        <p:nvSpPr>
          <p:cNvPr id="13" name="TextBox 12">
            <a:extLst>
              <a:ext uri="{FF2B5EF4-FFF2-40B4-BE49-F238E27FC236}">
                <a16:creationId xmlns:a16="http://schemas.microsoft.com/office/drawing/2014/main" id="{E811F59F-7B2E-4A99-23B4-B20674A740F2}"/>
              </a:ext>
            </a:extLst>
          </p:cNvPr>
          <p:cNvSpPr txBox="1"/>
          <p:nvPr/>
        </p:nvSpPr>
        <p:spPr>
          <a:xfrm>
            <a:off x="1092200" y="4572000"/>
            <a:ext cx="9652000" cy="636072"/>
          </a:xfrm>
          <a:prstGeom prst="rect">
            <a:avLst/>
          </a:prstGeom>
          <a:noFill/>
        </p:spPr>
        <p:txBody>
          <a:bodyPr vert="horz" wrap="square" lIns="25400" tIns="25400" rIns="25400" bIns="25400" rtlCol="0">
            <a:spAutoFit/>
          </a:bodyPr>
          <a:lstStyle/>
          <a:p>
            <a:r>
              <a:rPr lang="en-US" sz="1900" dirty="0">
                <a:solidFill>
                  <a:srgbClr val="312C22"/>
                </a:solidFill>
                <a:latin typeface="Aptos" panose="020B0004020202020204" pitchFamily="34" charset="0"/>
              </a:rPr>
              <a:t>- Team work was divided across coordination, frontend, backend, database, QA, and documents.</a:t>
            </a:r>
            <a:endParaRPr lang="en-GB" sz="1900" dirty="0">
              <a:solidFill>
                <a:srgbClr val="312C22"/>
              </a:solidFill>
              <a:latin typeface="Aptos" panose="020B0004020202020204" pitchFamily="34" charset="0"/>
            </a:endParaRPr>
          </a:p>
        </p:txBody>
      </p:sp>
      <p:sp>
        <p:nvSpPr>
          <p:cNvPr id="16" name="TextBox 15">
            <a:extLst>
              <a:ext uri="{FF2B5EF4-FFF2-40B4-BE49-F238E27FC236}">
                <a16:creationId xmlns:a16="http://schemas.microsoft.com/office/drawing/2014/main" id="{E6FF7C32-12C3-1159-BCE3-4EA3CE56F9DA}"/>
              </a:ext>
            </a:extLst>
          </p:cNvPr>
          <p:cNvSpPr txBox="1"/>
          <p:nvPr/>
        </p:nvSpPr>
        <p:spPr>
          <a:xfrm>
            <a:off x="1092200" y="2006600"/>
            <a:ext cx="9652000" cy="343684"/>
          </a:xfrm>
          <a:prstGeom prst="rect">
            <a:avLst/>
          </a:prstGeom>
          <a:noFill/>
        </p:spPr>
        <p:txBody>
          <a:bodyPr vert="horz" wrap="square" lIns="25400" tIns="25400" rIns="25400" bIns="25400" rtlCol="0">
            <a:spAutoFit/>
          </a:bodyPr>
          <a:lstStyle/>
          <a:p>
            <a:r>
              <a:rPr lang="en-US" sz="1900" dirty="0">
                <a:solidFill>
                  <a:srgbClr val="312C22"/>
                </a:solidFill>
                <a:latin typeface="Aptos" panose="020B0004020202020204" pitchFamily="34" charset="0"/>
              </a:rPr>
              <a:t>- React gives the frontend reusable components and quick interface updates.</a:t>
            </a:r>
            <a:endParaRPr lang="en-GB" sz="1900" dirty="0">
              <a:solidFill>
                <a:srgbClr val="312C22"/>
              </a:solidFill>
              <a:latin typeface="Aptos" panose="020B0004020202020204" pitchFamily="34" charset="0"/>
            </a:endParaRPr>
          </a:p>
        </p:txBody>
      </p:sp>
      <p:sp>
        <p:nvSpPr>
          <p:cNvPr id="18" name="TextBox 17">
            <a:extLst>
              <a:ext uri="{FF2B5EF4-FFF2-40B4-BE49-F238E27FC236}">
                <a16:creationId xmlns:a16="http://schemas.microsoft.com/office/drawing/2014/main" id="{52AC7A53-1227-5FE5-953F-03AFA9B11DDF}"/>
              </a:ext>
            </a:extLst>
          </p:cNvPr>
          <p:cNvSpPr txBox="1"/>
          <p:nvPr/>
        </p:nvSpPr>
        <p:spPr>
          <a:xfrm>
            <a:off x="1092200" y="2819400"/>
            <a:ext cx="9652000" cy="343684"/>
          </a:xfrm>
          <a:prstGeom prst="rect">
            <a:avLst/>
          </a:prstGeom>
          <a:noFill/>
        </p:spPr>
        <p:txBody>
          <a:bodyPr vert="horz" wrap="square" lIns="25400" tIns="25400" rIns="25400" bIns="25400" rtlCol="0">
            <a:spAutoFit/>
          </a:bodyPr>
          <a:lstStyle/>
          <a:p>
            <a:r>
              <a:rPr lang="en-GB" sz="1900" dirty="0">
                <a:solidFill>
                  <a:srgbClr val="312C22"/>
                </a:solidFill>
                <a:latin typeface="Aptos" panose="020B0004020202020204" pitchFamily="34" charset="0"/>
              </a:rPr>
              <a:t>- Express.js provides API routes for login, menu, orders, and chatbot messages.</a:t>
            </a:r>
          </a:p>
        </p:txBody>
      </p:sp>
      <p:sp>
        <p:nvSpPr>
          <p:cNvPr id="20" name="TextBox 19">
            <a:extLst>
              <a:ext uri="{FF2B5EF4-FFF2-40B4-BE49-F238E27FC236}">
                <a16:creationId xmlns:a16="http://schemas.microsoft.com/office/drawing/2014/main" id="{9AC1E698-F459-BFB4-9689-B465D3256290}"/>
              </a:ext>
            </a:extLst>
          </p:cNvPr>
          <p:cNvSpPr txBox="1"/>
          <p:nvPr/>
        </p:nvSpPr>
        <p:spPr>
          <a:xfrm>
            <a:off x="1092200" y="3759200"/>
            <a:ext cx="9652000" cy="343684"/>
          </a:xfrm>
          <a:prstGeom prst="rect">
            <a:avLst/>
          </a:prstGeom>
          <a:noFill/>
        </p:spPr>
        <p:txBody>
          <a:bodyPr vert="horz" wrap="square" lIns="25400" tIns="25400" rIns="25400" bIns="25400" rtlCol="0">
            <a:spAutoFit/>
          </a:bodyPr>
          <a:lstStyle/>
          <a:p>
            <a:r>
              <a:rPr lang="en-US" sz="1900" dirty="0">
                <a:solidFill>
                  <a:srgbClr val="312C22"/>
                </a:solidFill>
                <a:latin typeface="Aptos" panose="020B0004020202020204" pitchFamily="34" charset="0"/>
              </a:rPr>
              <a:t>- MySQL stores users, menu categories, menu items, orders, and order items.</a:t>
            </a:r>
            <a:endParaRPr lang="en-GB" sz="1900" dirty="0">
              <a:solidFill>
                <a:srgbClr val="312C22"/>
              </a:solidFill>
              <a:latin typeface="Aptos" panose="020B0004020202020204" pitchFamily="34" charset="0"/>
            </a:endParaRPr>
          </a:p>
        </p:txBody>
      </p:sp>
    </p:spTree>
    <p:extLst>
      <p:ext uri="{BB962C8B-B14F-4D97-AF65-F5344CB8AC3E}">
        <p14:creationId xmlns:p14="http://schemas.microsoft.com/office/powerpoint/2010/main" val="2789444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B7AF6C-7E29-9275-1047-C6233E6E7FAB}"/>
              </a:ext>
            </a:extLst>
          </p:cNvPr>
          <p:cNvSpPr txBox="1"/>
          <p:nvPr/>
        </p:nvSpPr>
        <p:spPr>
          <a:xfrm>
            <a:off x="635000" y="381000"/>
            <a:ext cx="10541000" cy="512961"/>
          </a:xfrm>
          <a:prstGeom prst="rect">
            <a:avLst/>
          </a:prstGeom>
          <a:noFill/>
        </p:spPr>
        <p:txBody>
          <a:bodyPr vert="horz" wrap="square" lIns="38100" tIns="25400" rIns="38100" bIns="25400" rtlCol="0">
            <a:spAutoFit/>
          </a:bodyPr>
          <a:lstStyle/>
          <a:p>
            <a:r>
              <a:rPr lang="en-GB" sz="3000" b="1">
                <a:solidFill>
                  <a:srgbClr val="15311E"/>
                </a:solidFill>
                <a:latin typeface="Aptos" panose="020B0004020202020204" pitchFamily="34" charset="0"/>
              </a:rPr>
              <a:t>System Architecture</a:t>
            </a:r>
          </a:p>
        </p:txBody>
      </p:sp>
      <p:sp>
        <p:nvSpPr>
          <p:cNvPr id="3" name="TextBox 2">
            <a:extLst>
              <a:ext uri="{FF2B5EF4-FFF2-40B4-BE49-F238E27FC236}">
                <a16:creationId xmlns:a16="http://schemas.microsoft.com/office/drawing/2014/main" id="{0E5B7F90-BC4F-2303-DA57-B1109F48F2AE}"/>
              </a:ext>
            </a:extLst>
          </p:cNvPr>
          <p:cNvSpPr txBox="1"/>
          <p:nvPr/>
        </p:nvSpPr>
        <p:spPr>
          <a:xfrm>
            <a:off x="660400" y="1016000"/>
            <a:ext cx="9652000" cy="235962"/>
          </a:xfrm>
          <a:prstGeom prst="rect">
            <a:avLst/>
          </a:prstGeom>
          <a:noFill/>
        </p:spPr>
        <p:txBody>
          <a:bodyPr vert="horz" wrap="square" lIns="38100" tIns="25400" rIns="38100" bIns="25400" rtlCol="0">
            <a:spAutoFit/>
          </a:bodyPr>
          <a:lstStyle/>
          <a:p>
            <a:r>
              <a:rPr lang="en-US" sz="1200">
                <a:solidFill>
                  <a:srgbClr val="64645E"/>
                </a:solidFill>
                <a:latin typeface="Aptos" panose="020B0004020202020204" pitchFamily="34" charset="0"/>
              </a:rPr>
              <a:t>The final demo connects the interface, API, and database.</a:t>
            </a:r>
            <a:endParaRPr lang="en-GB" sz="1200">
              <a:solidFill>
                <a:srgbClr val="64645E"/>
              </a:solidFill>
              <a:latin typeface="Aptos" panose="020B0004020202020204" pitchFamily="34" charset="0"/>
            </a:endParaRPr>
          </a:p>
        </p:txBody>
      </p:sp>
      <p:sp>
        <p:nvSpPr>
          <p:cNvPr id="4" name="Rectangle 3">
            <a:extLst>
              <a:ext uri="{FF2B5EF4-FFF2-40B4-BE49-F238E27FC236}">
                <a16:creationId xmlns:a16="http://schemas.microsoft.com/office/drawing/2014/main" id="{4BBCFEFE-7C4F-010F-F9AA-A62CB4DDFA48}"/>
              </a:ext>
            </a:extLst>
          </p:cNvPr>
          <p:cNvSpPr/>
          <p:nvPr/>
        </p:nvSpPr>
        <p:spPr>
          <a:xfrm>
            <a:off x="635000" y="1473200"/>
            <a:ext cx="10668000" cy="25400"/>
          </a:xfrm>
          <a:prstGeom prst="rect">
            <a:avLst/>
          </a:prstGeom>
          <a:solidFill>
            <a:srgbClr val="6196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7A09BEBD-F461-1C36-F1A7-E30F664B74C9}"/>
              </a:ext>
            </a:extLst>
          </p:cNvPr>
          <p:cNvSpPr txBox="1"/>
          <p:nvPr/>
        </p:nvSpPr>
        <p:spPr>
          <a:xfrm>
            <a:off x="10033000" y="6375400"/>
            <a:ext cx="1524000" cy="205184"/>
          </a:xfrm>
          <a:prstGeom prst="rect">
            <a:avLst/>
          </a:prstGeom>
          <a:noFill/>
        </p:spPr>
        <p:txBody>
          <a:bodyPr vert="horz" wrap="square" lIns="38100" tIns="25400" rIns="38100" bIns="25400" rtlCol="0">
            <a:spAutoFit/>
          </a:bodyPr>
          <a:lstStyle/>
          <a:p>
            <a:r>
              <a:rPr lang="en-GB" sz="1000">
                <a:solidFill>
                  <a:srgbClr val="64645E"/>
                </a:solidFill>
                <a:latin typeface="Aptos" panose="020B0004020202020204" pitchFamily="34" charset="0"/>
              </a:rPr>
              <a:t>SmartDine | 4</a:t>
            </a:r>
          </a:p>
        </p:txBody>
      </p:sp>
      <p:sp>
        <p:nvSpPr>
          <p:cNvPr id="6" name="Rectangle: Rounded Corners 5">
            <a:extLst>
              <a:ext uri="{FF2B5EF4-FFF2-40B4-BE49-F238E27FC236}">
                <a16:creationId xmlns:a16="http://schemas.microsoft.com/office/drawing/2014/main" id="{E8990DD8-98F8-678A-6D2D-5E4CAAC0E7DA}"/>
              </a:ext>
            </a:extLst>
          </p:cNvPr>
          <p:cNvSpPr/>
          <p:nvPr/>
        </p:nvSpPr>
        <p:spPr>
          <a:xfrm>
            <a:off x="825500" y="2222500"/>
            <a:ext cx="2667000" cy="1193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React Frontend</a:t>
            </a:r>
          </a:p>
          <a:p>
            <a:pPr algn="ctr"/>
            <a:r>
              <a:rPr lang="en-GB" sz="1600" b="1">
                <a:solidFill>
                  <a:srgbClr val="15311E"/>
                </a:solidFill>
                <a:latin typeface="Aptos" panose="020B0004020202020204" pitchFamily="34" charset="0"/>
              </a:rPr>
              <a:t>Menu, login, orders, chatbot</a:t>
            </a:r>
          </a:p>
        </p:txBody>
      </p:sp>
      <p:sp>
        <p:nvSpPr>
          <p:cNvPr id="7" name="TextBox 6">
            <a:extLst>
              <a:ext uri="{FF2B5EF4-FFF2-40B4-BE49-F238E27FC236}">
                <a16:creationId xmlns:a16="http://schemas.microsoft.com/office/drawing/2014/main" id="{06D401FB-A63A-41A9-E100-E2D2C5E3329B}"/>
              </a:ext>
            </a:extLst>
          </p:cNvPr>
          <p:cNvSpPr txBox="1"/>
          <p:nvPr/>
        </p:nvSpPr>
        <p:spPr>
          <a:xfrm>
            <a:off x="3708400" y="26035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8" name="Rectangle: Rounded Corners 7">
            <a:extLst>
              <a:ext uri="{FF2B5EF4-FFF2-40B4-BE49-F238E27FC236}">
                <a16:creationId xmlns:a16="http://schemas.microsoft.com/office/drawing/2014/main" id="{E3CCD8FC-567B-4063-16CA-C76A68E31B86}"/>
              </a:ext>
            </a:extLst>
          </p:cNvPr>
          <p:cNvSpPr/>
          <p:nvPr/>
        </p:nvSpPr>
        <p:spPr>
          <a:xfrm>
            <a:off x="4191000" y="2222500"/>
            <a:ext cx="2921000" cy="1193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600" b="1">
                <a:solidFill>
                  <a:srgbClr val="15311E"/>
                </a:solidFill>
                <a:latin typeface="Aptos" panose="020B0004020202020204" pitchFamily="34" charset="0"/>
              </a:rPr>
              <a:t>Express API</a:t>
            </a:r>
          </a:p>
          <a:p>
            <a:pPr algn="ctr"/>
            <a:r>
              <a:rPr lang="en-US" sz="1600" b="1">
                <a:solidFill>
                  <a:srgbClr val="15311E"/>
                </a:solidFill>
                <a:latin typeface="Aptos" panose="020B0004020202020204" pitchFamily="34" charset="0"/>
              </a:rPr>
              <a:t>Auth, menu, orders, assistant</a:t>
            </a:r>
            <a:endParaRPr lang="en-GB" sz="1600" b="1">
              <a:solidFill>
                <a:srgbClr val="15311E"/>
              </a:solidFill>
              <a:latin typeface="Aptos" panose="020B0004020202020204" pitchFamily="34" charset="0"/>
            </a:endParaRPr>
          </a:p>
        </p:txBody>
      </p:sp>
      <p:sp>
        <p:nvSpPr>
          <p:cNvPr id="9" name="TextBox 8">
            <a:extLst>
              <a:ext uri="{FF2B5EF4-FFF2-40B4-BE49-F238E27FC236}">
                <a16:creationId xmlns:a16="http://schemas.microsoft.com/office/drawing/2014/main" id="{00AA4030-2868-06FD-F604-4A0C0F61B5C9}"/>
              </a:ext>
            </a:extLst>
          </p:cNvPr>
          <p:cNvSpPr txBox="1"/>
          <p:nvPr/>
        </p:nvSpPr>
        <p:spPr>
          <a:xfrm>
            <a:off x="7340600" y="26035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10" name="Rectangle: Rounded Corners 9">
            <a:extLst>
              <a:ext uri="{FF2B5EF4-FFF2-40B4-BE49-F238E27FC236}">
                <a16:creationId xmlns:a16="http://schemas.microsoft.com/office/drawing/2014/main" id="{661C1AAF-2D92-D196-9ED9-8332AA863823}"/>
              </a:ext>
            </a:extLst>
          </p:cNvPr>
          <p:cNvSpPr/>
          <p:nvPr/>
        </p:nvSpPr>
        <p:spPr>
          <a:xfrm>
            <a:off x="7810500" y="2222500"/>
            <a:ext cx="2921000" cy="1193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600" b="1">
                <a:solidFill>
                  <a:srgbClr val="15311E"/>
                </a:solidFill>
                <a:latin typeface="Aptos" panose="020B0004020202020204" pitchFamily="34" charset="0"/>
              </a:rPr>
              <a:t>Aiven MySQL</a:t>
            </a:r>
          </a:p>
          <a:p>
            <a:pPr algn="ctr"/>
            <a:r>
              <a:rPr lang="en-US" sz="1600" b="1">
                <a:solidFill>
                  <a:srgbClr val="15311E"/>
                </a:solidFill>
                <a:latin typeface="Aptos" panose="020B0004020202020204" pitchFamily="34" charset="0"/>
              </a:rPr>
              <a:t>Users, menu items, orders</a:t>
            </a:r>
            <a:endParaRPr lang="en-GB" sz="1600" b="1">
              <a:solidFill>
                <a:srgbClr val="15311E"/>
              </a:solidFill>
              <a:latin typeface="Aptos" panose="020B0004020202020204" pitchFamily="34" charset="0"/>
            </a:endParaRPr>
          </a:p>
        </p:txBody>
      </p:sp>
      <p:sp>
        <p:nvSpPr>
          <p:cNvPr id="11" name="TextBox 10">
            <a:extLst>
              <a:ext uri="{FF2B5EF4-FFF2-40B4-BE49-F238E27FC236}">
                <a16:creationId xmlns:a16="http://schemas.microsoft.com/office/drawing/2014/main" id="{3E4F0C70-CB31-9D99-5660-6B51E50DF6E3}"/>
              </a:ext>
            </a:extLst>
          </p:cNvPr>
          <p:cNvSpPr txBox="1"/>
          <p:nvPr/>
        </p:nvSpPr>
        <p:spPr>
          <a:xfrm>
            <a:off x="1079500" y="4318000"/>
            <a:ext cx="10033000" cy="1436291"/>
          </a:xfrm>
          <a:prstGeom prst="rect">
            <a:avLst/>
          </a:prstGeom>
          <a:noFill/>
        </p:spPr>
        <p:txBody>
          <a:bodyPr vert="horz" wrap="square" lIns="38100" tIns="25400" rIns="38100" bIns="25400" rtlCol="0">
            <a:spAutoFit/>
          </a:bodyPr>
          <a:lstStyle/>
          <a:p>
            <a:pPr algn="ctr"/>
            <a:r>
              <a:rPr lang="en-GB" b="1" dirty="0">
                <a:solidFill>
                  <a:srgbClr val="15311E"/>
                </a:solidFill>
                <a:latin typeface="Aptos" panose="020B0004020202020204" pitchFamily="34" charset="0"/>
              </a:rPr>
              <a:t>Example routes:</a:t>
            </a:r>
          </a:p>
          <a:p>
            <a:pPr algn="ctr"/>
            <a:r>
              <a:rPr lang="en-GB" b="1" dirty="0">
                <a:solidFill>
                  <a:srgbClr val="15311E"/>
                </a:solidFill>
                <a:latin typeface="Aptos" panose="020B0004020202020204" pitchFamily="34" charset="0"/>
              </a:rPr>
              <a:t> /</a:t>
            </a:r>
            <a:r>
              <a:rPr lang="en-GB" b="1" dirty="0" err="1">
                <a:solidFill>
                  <a:srgbClr val="15311E"/>
                </a:solidFill>
                <a:latin typeface="Aptos" panose="020B0004020202020204" pitchFamily="34" charset="0"/>
              </a:rPr>
              <a:t>api</a:t>
            </a:r>
            <a:r>
              <a:rPr lang="en-GB" b="1" dirty="0">
                <a:solidFill>
                  <a:srgbClr val="15311E"/>
                </a:solidFill>
                <a:latin typeface="Aptos" panose="020B0004020202020204" pitchFamily="34" charset="0"/>
              </a:rPr>
              <a:t>/auth/login</a:t>
            </a:r>
          </a:p>
          <a:p>
            <a:pPr algn="ctr"/>
            <a:r>
              <a:rPr lang="en-GB" b="1" dirty="0">
                <a:solidFill>
                  <a:srgbClr val="15311E"/>
                </a:solidFill>
                <a:latin typeface="Aptos" panose="020B0004020202020204" pitchFamily="34" charset="0"/>
              </a:rPr>
              <a:t>    /</a:t>
            </a:r>
            <a:r>
              <a:rPr lang="en-GB" b="1" dirty="0" err="1">
                <a:solidFill>
                  <a:srgbClr val="15311E"/>
                </a:solidFill>
                <a:latin typeface="Aptos" panose="020B0004020202020204" pitchFamily="34" charset="0"/>
              </a:rPr>
              <a:t>api</a:t>
            </a:r>
            <a:r>
              <a:rPr lang="en-GB" b="1" dirty="0">
                <a:solidFill>
                  <a:srgbClr val="15311E"/>
                </a:solidFill>
                <a:latin typeface="Aptos" panose="020B0004020202020204" pitchFamily="34" charset="0"/>
              </a:rPr>
              <a:t>/menu/items</a:t>
            </a:r>
          </a:p>
          <a:p>
            <a:pPr algn="ctr"/>
            <a:r>
              <a:rPr lang="en-GB" b="1" dirty="0">
                <a:solidFill>
                  <a:srgbClr val="15311E"/>
                </a:solidFill>
                <a:latin typeface="Aptos" panose="020B0004020202020204" pitchFamily="34" charset="0"/>
              </a:rPr>
              <a:t>    /</a:t>
            </a:r>
            <a:r>
              <a:rPr lang="en-GB" b="1" dirty="0" err="1">
                <a:solidFill>
                  <a:srgbClr val="15311E"/>
                </a:solidFill>
                <a:latin typeface="Aptos" panose="020B0004020202020204" pitchFamily="34" charset="0"/>
              </a:rPr>
              <a:t>api</a:t>
            </a:r>
            <a:r>
              <a:rPr lang="en-GB" b="1" dirty="0">
                <a:solidFill>
                  <a:srgbClr val="15311E"/>
                </a:solidFill>
                <a:latin typeface="Aptos" panose="020B0004020202020204" pitchFamily="34" charset="0"/>
              </a:rPr>
              <a:t>/orders  </a:t>
            </a:r>
          </a:p>
          <a:p>
            <a:pPr algn="ctr"/>
            <a:r>
              <a:rPr lang="en-GB" b="1" dirty="0">
                <a:solidFill>
                  <a:srgbClr val="15311E"/>
                </a:solidFill>
                <a:latin typeface="Aptos" panose="020B0004020202020204" pitchFamily="34" charset="0"/>
              </a:rPr>
              <a:t>  /</a:t>
            </a:r>
            <a:r>
              <a:rPr lang="en-GB" b="1" dirty="0" err="1">
                <a:solidFill>
                  <a:srgbClr val="15311E"/>
                </a:solidFill>
                <a:latin typeface="Aptos" panose="020B0004020202020204" pitchFamily="34" charset="0"/>
              </a:rPr>
              <a:t>api</a:t>
            </a:r>
            <a:r>
              <a:rPr lang="en-GB" b="1" dirty="0">
                <a:solidFill>
                  <a:srgbClr val="15311E"/>
                </a:solidFill>
                <a:latin typeface="Aptos" panose="020B0004020202020204" pitchFamily="34" charset="0"/>
              </a:rPr>
              <a:t>/chatbot/message</a:t>
            </a:r>
          </a:p>
        </p:txBody>
      </p:sp>
    </p:spTree>
    <p:extLst>
      <p:ext uri="{BB962C8B-B14F-4D97-AF65-F5344CB8AC3E}">
        <p14:creationId xmlns:p14="http://schemas.microsoft.com/office/powerpoint/2010/main" val="1759132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E1614C-BE38-DB0D-F183-A27E81DB840A}"/>
              </a:ext>
            </a:extLst>
          </p:cNvPr>
          <p:cNvSpPr txBox="1"/>
          <p:nvPr/>
        </p:nvSpPr>
        <p:spPr>
          <a:xfrm>
            <a:off x="635000" y="381000"/>
            <a:ext cx="10541000" cy="512961"/>
          </a:xfrm>
          <a:prstGeom prst="rect">
            <a:avLst/>
          </a:prstGeom>
          <a:noFill/>
        </p:spPr>
        <p:txBody>
          <a:bodyPr vert="horz" wrap="square" lIns="38100" tIns="25400" rIns="38100" bIns="25400" rtlCol="0">
            <a:spAutoFit/>
          </a:bodyPr>
          <a:lstStyle/>
          <a:p>
            <a:r>
              <a:rPr lang="en-GB" sz="3000" b="1">
                <a:solidFill>
                  <a:srgbClr val="15311E"/>
                </a:solidFill>
                <a:latin typeface="Aptos" panose="020B0004020202020204" pitchFamily="34" charset="0"/>
              </a:rPr>
              <a:t>Live Menu Data</a:t>
            </a:r>
          </a:p>
        </p:txBody>
      </p:sp>
      <p:sp>
        <p:nvSpPr>
          <p:cNvPr id="3" name="TextBox 2">
            <a:extLst>
              <a:ext uri="{FF2B5EF4-FFF2-40B4-BE49-F238E27FC236}">
                <a16:creationId xmlns:a16="http://schemas.microsoft.com/office/drawing/2014/main" id="{395E93F3-7BE7-BD4B-7874-9A9A8839F5AF}"/>
              </a:ext>
            </a:extLst>
          </p:cNvPr>
          <p:cNvSpPr txBox="1"/>
          <p:nvPr/>
        </p:nvSpPr>
        <p:spPr>
          <a:xfrm>
            <a:off x="660400" y="1016000"/>
            <a:ext cx="9652000" cy="235962"/>
          </a:xfrm>
          <a:prstGeom prst="rect">
            <a:avLst/>
          </a:prstGeom>
          <a:noFill/>
        </p:spPr>
        <p:txBody>
          <a:bodyPr vert="horz" wrap="square" lIns="38100" tIns="25400" rIns="38100" bIns="25400" rtlCol="0">
            <a:spAutoFit/>
          </a:bodyPr>
          <a:lstStyle/>
          <a:p>
            <a:r>
              <a:rPr lang="en-US" sz="1200">
                <a:solidFill>
                  <a:srgbClr val="64645E"/>
                </a:solidFill>
                <a:latin typeface="Aptos" panose="020B0004020202020204" pitchFamily="34" charset="0"/>
              </a:rPr>
              <a:t>Menu cards are loaded through the API from the SmartDine database.</a:t>
            </a:r>
            <a:endParaRPr lang="en-GB" sz="1200">
              <a:solidFill>
                <a:srgbClr val="64645E"/>
              </a:solidFill>
              <a:latin typeface="Aptos" panose="020B0004020202020204" pitchFamily="34" charset="0"/>
            </a:endParaRPr>
          </a:p>
        </p:txBody>
      </p:sp>
      <p:sp>
        <p:nvSpPr>
          <p:cNvPr id="4" name="Rectangle 3">
            <a:extLst>
              <a:ext uri="{FF2B5EF4-FFF2-40B4-BE49-F238E27FC236}">
                <a16:creationId xmlns:a16="http://schemas.microsoft.com/office/drawing/2014/main" id="{2409D28B-B981-2C8B-BC47-77F75D24D2D2}"/>
              </a:ext>
            </a:extLst>
          </p:cNvPr>
          <p:cNvSpPr/>
          <p:nvPr/>
        </p:nvSpPr>
        <p:spPr>
          <a:xfrm>
            <a:off x="635000" y="1473200"/>
            <a:ext cx="10668000" cy="25400"/>
          </a:xfrm>
          <a:prstGeom prst="rect">
            <a:avLst/>
          </a:prstGeom>
          <a:solidFill>
            <a:srgbClr val="6196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1E503D95-4DA7-DF30-32FF-852222FEC627}"/>
              </a:ext>
            </a:extLst>
          </p:cNvPr>
          <p:cNvSpPr txBox="1"/>
          <p:nvPr/>
        </p:nvSpPr>
        <p:spPr>
          <a:xfrm>
            <a:off x="10033000" y="6375400"/>
            <a:ext cx="1524000" cy="205184"/>
          </a:xfrm>
          <a:prstGeom prst="rect">
            <a:avLst/>
          </a:prstGeom>
          <a:noFill/>
        </p:spPr>
        <p:txBody>
          <a:bodyPr vert="horz" wrap="square" lIns="38100" tIns="25400" rIns="38100" bIns="25400" rtlCol="0">
            <a:spAutoFit/>
          </a:bodyPr>
          <a:lstStyle/>
          <a:p>
            <a:r>
              <a:rPr lang="en-GB" sz="1000">
                <a:solidFill>
                  <a:srgbClr val="64645E"/>
                </a:solidFill>
                <a:latin typeface="Aptos" panose="020B0004020202020204" pitchFamily="34" charset="0"/>
              </a:rPr>
              <a:t>SmartDine | 5</a:t>
            </a:r>
          </a:p>
        </p:txBody>
      </p:sp>
      <p:sp>
        <p:nvSpPr>
          <p:cNvPr id="6" name="TextBox 5">
            <a:extLst>
              <a:ext uri="{FF2B5EF4-FFF2-40B4-BE49-F238E27FC236}">
                <a16:creationId xmlns:a16="http://schemas.microsoft.com/office/drawing/2014/main" id="{C7147965-2D05-E273-4097-B942E952D39C}"/>
              </a:ext>
            </a:extLst>
          </p:cNvPr>
          <p:cNvSpPr txBox="1"/>
          <p:nvPr/>
        </p:nvSpPr>
        <p:spPr>
          <a:xfrm>
            <a:off x="825500" y="2032000"/>
            <a:ext cx="4572000" cy="312906"/>
          </a:xfrm>
          <a:prstGeom prst="rect">
            <a:avLst/>
          </a:prstGeom>
          <a:noFill/>
        </p:spPr>
        <p:txBody>
          <a:bodyPr vert="horz" wrap="square" lIns="38100" tIns="25400" rIns="38100" bIns="25400" rtlCol="0">
            <a:spAutoFit/>
          </a:bodyPr>
          <a:lstStyle/>
          <a:p>
            <a:r>
              <a:rPr lang="en-US" sz="1700">
                <a:solidFill>
                  <a:srgbClr val="312C22"/>
                </a:solidFill>
                <a:latin typeface="Aptos" panose="020B0004020202020204" pitchFamily="34" charset="0"/>
              </a:rPr>
              <a:t>- Menu items load from MySQL through the API.</a:t>
            </a:r>
            <a:endParaRPr lang="en-GB" sz="1700">
              <a:solidFill>
                <a:srgbClr val="312C22"/>
              </a:solidFill>
              <a:latin typeface="Aptos" panose="020B0004020202020204" pitchFamily="34" charset="0"/>
            </a:endParaRPr>
          </a:p>
        </p:txBody>
      </p:sp>
      <p:sp>
        <p:nvSpPr>
          <p:cNvPr id="7" name="TextBox 6">
            <a:extLst>
              <a:ext uri="{FF2B5EF4-FFF2-40B4-BE49-F238E27FC236}">
                <a16:creationId xmlns:a16="http://schemas.microsoft.com/office/drawing/2014/main" id="{65EE431E-FCC5-17DC-8F76-DAA54C4D6A38}"/>
              </a:ext>
            </a:extLst>
          </p:cNvPr>
          <p:cNvSpPr txBox="1"/>
          <p:nvPr/>
        </p:nvSpPr>
        <p:spPr>
          <a:xfrm>
            <a:off x="825500" y="2844800"/>
            <a:ext cx="4572000" cy="312906"/>
          </a:xfrm>
          <a:prstGeom prst="rect">
            <a:avLst/>
          </a:prstGeom>
          <a:noFill/>
        </p:spPr>
        <p:txBody>
          <a:bodyPr vert="horz" wrap="square" lIns="38100" tIns="25400" rIns="38100" bIns="25400" rtlCol="0">
            <a:spAutoFit/>
          </a:bodyPr>
          <a:lstStyle/>
          <a:p>
            <a:r>
              <a:rPr lang="en-US" sz="1700">
                <a:solidFill>
                  <a:srgbClr val="312C22"/>
                </a:solidFill>
                <a:latin typeface="Aptos" panose="020B0004020202020204" pitchFamily="34" charset="0"/>
              </a:rPr>
              <a:t>- Search and category filtering work.</a:t>
            </a:r>
            <a:endParaRPr lang="en-GB" sz="1700">
              <a:solidFill>
                <a:srgbClr val="312C22"/>
              </a:solidFill>
              <a:latin typeface="Aptos" panose="020B0004020202020204" pitchFamily="34" charset="0"/>
            </a:endParaRPr>
          </a:p>
        </p:txBody>
      </p:sp>
      <p:sp>
        <p:nvSpPr>
          <p:cNvPr id="8" name="TextBox 7">
            <a:extLst>
              <a:ext uri="{FF2B5EF4-FFF2-40B4-BE49-F238E27FC236}">
                <a16:creationId xmlns:a16="http://schemas.microsoft.com/office/drawing/2014/main" id="{54841812-01F6-E761-7774-D2B82D230C05}"/>
              </a:ext>
            </a:extLst>
          </p:cNvPr>
          <p:cNvSpPr txBox="1"/>
          <p:nvPr/>
        </p:nvSpPr>
        <p:spPr>
          <a:xfrm>
            <a:off x="825500" y="3657600"/>
            <a:ext cx="4572000" cy="574516"/>
          </a:xfrm>
          <a:prstGeom prst="rect">
            <a:avLst/>
          </a:prstGeom>
          <a:noFill/>
        </p:spPr>
        <p:txBody>
          <a:bodyPr vert="horz" wrap="square" lIns="38100" tIns="25400" rIns="38100" bIns="25400" rtlCol="0">
            <a:spAutoFit/>
          </a:bodyPr>
          <a:lstStyle/>
          <a:p>
            <a:r>
              <a:rPr lang="en-US" sz="1700">
                <a:solidFill>
                  <a:srgbClr val="312C22"/>
                </a:solidFill>
                <a:latin typeface="Aptos" panose="020B0004020202020204" pitchFamily="34" charset="0"/>
              </a:rPr>
              <a:t>- Seeded and admin-created items appear in the customer view.</a:t>
            </a:r>
            <a:endParaRPr lang="en-GB" sz="1700">
              <a:solidFill>
                <a:srgbClr val="312C22"/>
              </a:solidFill>
              <a:latin typeface="Aptos" panose="020B0004020202020204" pitchFamily="34" charset="0"/>
            </a:endParaRPr>
          </a:p>
        </p:txBody>
      </p:sp>
      <p:pic>
        <p:nvPicPr>
          <p:cNvPr id="10" name="Picture 9">
            <a:extLst>
              <a:ext uri="{FF2B5EF4-FFF2-40B4-BE49-F238E27FC236}">
                <a16:creationId xmlns:a16="http://schemas.microsoft.com/office/drawing/2014/main" id="{4B8CE6DD-9F4A-2DC2-6FEA-FEDC129A8D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1000" y="2344710"/>
            <a:ext cx="6350000" cy="3057581"/>
          </a:xfrm>
          <a:prstGeom prst="rect">
            <a:avLst/>
          </a:prstGeom>
          <a:ln w="12700">
            <a:solidFill>
              <a:srgbClr val="D3D3D3"/>
            </a:solidFill>
          </a:ln>
        </p:spPr>
      </p:pic>
    </p:spTree>
    <p:extLst>
      <p:ext uri="{BB962C8B-B14F-4D97-AF65-F5344CB8AC3E}">
        <p14:creationId xmlns:p14="http://schemas.microsoft.com/office/powerpoint/2010/main" val="3904033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311E5F-8EA2-8C35-4122-4D943CF79A2A}"/>
              </a:ext>
            </a:extLst>
          </p:cNvPr>
          <p:cNvSpPr txBox="1"/>
          <p:nvPr/>
        </p:nvSpPr>
        <p:spPr>
          <a:xfrm>
            <a:off x="635000" y="381000"/>
            <a:ext cx="10541000" cy="512961"/>
          </a:xfrm>
          <a:prstGeom prst="rect">
            <a:avLst/>
          </a:prstGeom>
          <a:noFill/>
        </p:spPr>
        <p:txBody>
          <a:bodyPr vert="horz" wrap="square" lIns="38100" tIns="25400" rIns="38100" bIns="25400" rtlCol="0">
            <a:spAutoFit/>
          </a:bodyPr>
          <a:lstStyle/>
          <a:p>
            <a:r>
              <a:rPr lang="en-GB" sz="3000" b="1">
                <a:solidFill>
                  <a:srgbClr val="15311E"/>
                </a:solidFill>
                <a:latin typeface="Aptos" panose="020B0004020202020204" pitchFamily="34" charset="0"/>
              </a:rPr>
              <a:t>Customer Workflow</a:t>
            </a:r>
          </a:p>
        </p:txBody>
      </p:sp>
      <p:sp>
        <p:nvSpPr>
          <p:cNvPr id="3" name="TextBox 2">
            <a:extLst>
              <a:ext uri="{FF2B5EF4-FFF2-40B4-BE49-F238E27FC236}">
                <a16:creationId xmlns:a16="http://schemas.microsoft.com/office/drawing/2014/main" id="{6EF3784B-2E83-3521-A50B-A44AA67AE818}"/>
              </a:ext>
            </a:extLst>
          </p:cNvPr>
          <p:cNvSpPr txBox="1"/>
          <p:nvPr/>
        </p:nvSpPr>
        <p:spPr>
          <a:xfrm>
            <a:off x="660400" y="1016000"/>
            <a:ext cx="9652000" cy="235962"/>
          </a:xfrm>
          <a:prstGeom prst="rect">
            <a:avLst/>
          </a:prstGeom>
          <a:noFill/>
        </p:spPr>
        <p:txBody>
          <a:bodyPr vert="horz" wrap="square" lIns="38100" tIns="25400" rIns="38100" bIns="25400" rtlCol="0">
            <a:spAutoFit/>
          </a:bodyPr>
          <a:lstStyle/>
          <a:p>
            <a:r>
              <a:rPr lang="en-US" sz="1200">
                <a:solidFill>
                  <a:srgbClr val="64645E"/>
                </a:solidFill>
                <a:latin typeface="Aptos" panose="020B0004020202020204" pitchFamily="34" charset="0"/>
              </a:rPr>
              <a:t>Customers can log in, build an order, and submit it.</a:t>
            </a:r>
            <a:endParaRPr lang="en-GB" sz="1200">
              <a:solidFill>
                <a:srgbClr val="64645E"/>
              </a:solidFill>
              <a:latin typeface="Aptos" panose="020B0004020202020204" pitchFamily="34" charset="0"/>
            </a:endParaRPr>
          </a:p>
        </p:txBody>
      </p:sp>
      <p:sp>
        <p:nvSpPr>
          <p:cNvPr id="4" name="Rectangle 3">
            <a:extLst>
              <a:ext uri="{FF2B5EF4-FFF2-40B4-BE49-F238E27FC236}">
                <a16:creationId xmlns:a16="http://schemas.microsoft.com/office/drawing/2014/main" id="{C6A0DBEC-54B6-2764-93F1-12DA4A5459B2}"/>
              </a:ext>
            </a:extLst>
          </p:cNvPr>
          <p:cNvSpPr/>
          <p:nvPr/>
        </p:nvSpPr>
        <p:spPr>
          <a:xfrm>
            <a:off x="635000" y="1473200"/>
            <a:ext cx="10668000" cy="25400"/>
          </a:xfrm>
          <a:prstGeom prst="rect">
            <a:avLst/>
          </a:prstGeom>
          <a:solidFill>
            <a:srgbClr val="6196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9BF039A6-9F27-465B-FA76-E61A28A8BCA9}"/>
              </a:ext>
            </a:extLst>
          </p:cNvPr>
          <p:cNvSpPr txBox="1"/>
          <p:nvPr/>
        </p:nvSpPr>
        <p:spPr>
          <a:xfrm>
            <a:off x="10033000" y="6375400"/>
            <a:ext cx="1524000" cy="205184"/>
          </a:xfrm>
          <a:prstGeom prst="rect">
            <a:avLst/>
          </a:prstGeom>
          <a:noFill/>
        </p:spPr>
        <p:txBody>
          <a:bodyPr vert="horz" wrap="square" lIns="38100" tIns="25400" rIns="38100" bIns="25400" rtlCol="0">
            <a:spAutoFit/>
          </a:bodyPr>
          <a:lstStyle/>
          <a:p>
            <a:r>
              <a:rPr lang="en-GB" sz="1000">
                <a:solidFill>
                  <a:srgbClr val="64645E"/>
                </a:solidFill>
                <a:latin typeface="Aptos" panose="020B0004020202020204" pitchFamily="34" charset="0"/>
              </a:rPr>
              <a:t>SmartDine | 6</a:t>
            </a:r>
          </a:p>
        </p:txBody>
      </p:sp>
      <p:sp>
        <p:nvSpPr>
          <p:cNvPr id="6" name="Rectangle: Rounded Corners 5">
            <a:extLst>
              <a:ext uri="{FF2B5EF4-FFF2-40B4-BE49-F238E27FC236}">
                <a16:creationId xmlns:a16="http://schemas.microsoft.com/office/drawing/2014/main" id="{66FDDABB-13FD-0E38-B4A5-4F0862887C5A}"/>
              </a:ext>
            </a:extLst>
          </p:cNvPr>
          <p:cNvSpPr/>
          <p:nvPr/>
        </p:nvSpPr>
        <p:spPr>
          <a:xfrm>
            <a:off x="698500" y="2095500"/>
            <a:ext cx="14986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Login</a:t>
            </a:r>
          </a:p>
        </p:txBody>
      </p:sp>
      <p:sp>
        <p:nvSpPr>
          <p:cNvPr id="7" name="TextBox 6">
            <a:extLst>
              <a:ext uri="{FF2B5EF4-FFF2-40B4-BE49-F238E27FC236}">
                <a16:creationId xmlns:a16="http://schemas.microsoft.com/office/drawing/2014/main" id="{15457F63-961D-CEA8-A7D9-57D399C42760}"/>
              </a:ext>
            </a:extLst>
          </p:cNvPr>
          <p:cNvSpPr txBox="1"/>
          <p:nvPr/>
        </p:nvSpPr>
        <p:spPr>
          <a:xfrm>
            <a:off x="2260600" y="22606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8" name="Rectangle: Rounded Corners 7">
            <a:extLst>
              <a:ext uri="{FF2B5EF4-FFF2-40B4-BE49-F238E27FC236}">
                <a16:creationId xmlns:a16="http://schemas.microsoft.com/office/drawing/2014/main" id="{867B4300-B4F5-85B5-3BBD-BA5012D131C8}"/>
              </a:ext>
            </a:extLst>
          </p:cNvPr>
          <p:cNvSpPr/>
          <p:nvPr/>
        </p:nvSpPr>
        <p:spPr>
          <a:xfrm>
            <a:off x="2667000" y="2095500"/>
            <a:ext cx="17526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Browse menu</a:t>
            </a:r>
          </a:p>
        </p:txBody>
      </p:sp>
      <p:sp>
        <p:nvSpPr>
          <p:cNvPr id="9" name="TextBox 8">
            <a:extLst>
              <a:ext uri="{FF2B5EF4-FFF2-40B4-BE49-F238E27FC236}">
                <a16:creationId xmlns:a16="http://schemas.microsoft.com/office/drawing/2014/main" id="{115418B6-D4A6-26FA-4D93-2C2D222287D2}"/>
              </a:ext>
            </a:extLst>
          </p:cNvPr>
          <p:cNvSpPr txBox="1"/>
          <p:nvPr/>
        </p:nvSpPr>
        <p:spPr>
          <a:xfrm>
            <a:off x="4470400" y="22606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10" name="Rectangle: Rounded Corners 9">
            <a:extLst>
              <a:ext uri="{FF2B5EF4-FFF2-40B4-BE49-F238E27FC236}">
                <a16:creationId xmlns:a16="http://schemas.microsoft.com/office/drawing/2014/main" id="{8361577C-15B2-7522-FA08-EE2378D76A76}"/>
              </a:ext>
            </a:extLst>
          </p:cNvPr>
          <p:cNvSpPr/>
          <p:nvPr/>
        </p:nvSpPr>
        <p:spPr>
          <a:xfrm>
            <a:off x="4889500" y="2095500"/>
            <a:ext cx="17526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Add to cart</a:t>
            </a:r>
          </a:p>
        </p:txBody>
      </p:sp>
      <p:sp>
        <p:nvSpPr>
          <p:cNvPr id="11" name="TextBox 10">
            <a:extLst>
              <a:ext uri="{FF2B5EF4-FFF2-40B4-BE49-F238E27FC236}">
                <a16:creationId xmlns:a16="http://schemas.microsoft.com/office/drawing/2014/main" id="{08237E7F-F81A-308E-10E7-D7E0905E3076}"/>
              </a:ext>
            </a:extLst>
          </p:cNvPr>
          <p:cNvSpPr txBox="1"/>
          <p:nvPr/>
        </p:nvSpPr>
        <p:spPr>
          <a:xfrm>
            <a:off x="6705600" y="22606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12" name="Rectangle: Rounded Corners 11">
            <a:extLst>
              <a:ext uri="{FF2B5EF4-FFF2-40B4-BE49-F238E27FC236}">
                <a16:creationId xmlns:a16="http://schemas.microsoft.com/office/drawing/2014/main" id="{382FD346-FB38-34DB-6977-AFF2ECA343C5}"/>
              </a:ext>
            </a:extLst>
          </p:cNvPr>
          <p:cNvSpPr/>
          <p:nvPr/>
        </p:nvSpPr>
        <p:spPr>
          <a:xfrm>
            <a:off x="7112000" y="2095500"/>
            <a:ext cx="17526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Place order</a:t>
            </a:r>
          </a:p>
        </p:txBody>
      </p:sp>
      <p:sp>
        <p:nvSpPr>
          <p:cNvPr id="13" name="TextBox 12">
            <a:extLst>
              <a:ext uri="{FF2B5EF4-FFF2-40B4-BE49-F238E27FC236}">
                <a16:creationId xmlns:a16="http://schemas.microsoft.com/office/drawing/2014/main" id="{C9034A5B-A17C-E64C-0FB5-9E5AF5AB06E2}"/>
              </a:ext>
            </a:extLst>
          </p:cNvPr>
          <p:cNvSpPr txBox="1"/>
          <p:nvPr/>
        </p:nvSpPr>
        <p:spPr>
          <a:xfrm>
            <a:off x="8940800" y="22606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14" name="Rectangle: Rounded Corners 13">
            <a:extLst>
              <a:ext uri="{FF2B5EF4-FFF2-40B4-BE49-F238E27FC236}">
                <a16:creationId xmlns:a16="http://schemas.microsoft.com/office/drawing/2014/main" id="{386DA798-4FA5-1009-4DBB-D127F1D8FE32}"/>
              </a:ext>
            </a:extLst>
          </p:cNvPr>
          <p:cNvSpPr/>
          <p:nvPr/>
        </p:nvSpPr>
        <p:spPr>
          <a:xfrm>
            <a:off x="9334500" y="2095500"/>
            <a:ext cx="17526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Saved in DB</a:t>
            </a:r>
          </a:p>
        </p:txBody>
      </p:sp>
      <p:sp>
        <p:nvSpPr>
          <p:cNvPr id="15" name="TextBox 14">
            <a:extLst>
              <a:ext uri="{FF2B5EF4-FFF2-40B4-BE49-F238E27FC236}">
                <a16:creationId xmlns:a16="http://schemas.microsoft.com/office/drawing/2014/main" id="{A8B35648-462C-7412-E77B-4F12ADCD63DE}"/>
              </a:ext>
            </a:extLst>
          </p:cNvPr>
          <p:cNvSpPr txBox="1"/>
          <p:nvPr/>
        </p:nvSpPr>
        <p:spPr>
          <a:xfrm>
            <a:off x="889000" y="3492500"/>
            <a:ext cx="4699000" cy="312906"/>
          </a:xfrm>
          <a:prstGeom prst="rect">
            <a:avLst/>
          </a:prstGeom>
          <a:noFill/>
        </p:spPr>
        <p:txBody>
          <a:bodyPr vert="horz" wrap="square" lIns="38100" tIns="25400" rIns="38100" bIns="25400" rtlCol="0">
            <a:spAutoFit/>
          </a:bodyPr>
          <a:lstStyle/>
          <a:p>
            <a:r>
              <a:rPr lang="en-US" sz="1700">
                <a:solidFill>
                  <a:srgbClr val="312C22"/>
                </a:solidFill>
                <a:latin typeface="Aptos" panose="020B0004020202020204" pitchFamily="34" charset="0"/>
              </a:rPr>
              <a:t>- Cart count updates after adding items.</a:t>
            </a:r>
            <a:endParaRPr lang="en-GB" sz="1700">
              <a:solidFill>
                <a:srgbClr val="312C22"/>
              </a:solidFill>
              <a:latin typeface="Aptos" panose="020B0004020202020204" pitchFamily="34" charset="0"/>
            </a:endParaRPr>
          </a:p>
        </p:txBody>
      </p:sp>
      <p:sp>
        <p:nvSpPr>
          <p:cNvPr id="16" name="TextBox 15">
            <a:extLst>
              <a:ext uri="{FF2B5EF4-FFF2-40B4-BE49-F238E27FC236}">
                <a16:creationId xmlns:a16="http://schemas.microsoft.com/office/drawing/2014/main" id="{3297B4AD-9F89-47FC-B994-26EB7779C330}"/>
              </a:ext>
            </a:extLst>
          </p:cNvPr>
          <p:cNvSpPr txBox="1"/>
          <p:nvPr/>
        </p:nvSpPr>
        <p:spPr>
          <a:xfrm>
            <a:off x="889000" y="4152900"/>
            <a:ext cx="4699000" cy="312906"/>
          </a:xfrm>
          <a:prstGeom prst="rect">
            <a:avLst/>
          </a:prstGeom>
          <a:noFill/>
        </p:spPr>
        <p:txBody>
          <a:bodyPr vert="horz" wrap="square" lIns="38100" tIns="25400" rIns="38100" bIns="25400" rtlCol="0">
            <a:spAutoFit/>
          </a:bodyPr>
          <a:lstStyle/>
          <a:p>
            <a:r>
              <a:rPr lang="en-US" sz="1700">
                <a:solidFill>
                  <a:srgbClr val="312C22"/>
                </a:solidFill>
                <a:latin typeface="Aptos" panose="020B0004020202020204" pitchFamily="34" charset="0"/>
              </a:rPr>
              <a:t>- Order stores quantity and total amount.</a:t>
            </a:r>
            <a:endParaRPr lang="en-GB" sz="1700">
              <a:solidFill>
                <a:srgbClr val="312C22"/>
              </a:solidFill>
              <a:latin typeface="Aptos" panose="020B0004020202020204" pitchFamily="34" charset="0"/>
            </a:endParaRPr>
          </a:p>
        </p:txBody>
      </p:sp>
      <p:sp>
        <p:nvSpPr>
          <p:cNvPr id="17" name="TextBox 16">
            <a:extLst>
              <a:ext uri="{FF2B5EF4-FFF2-40B4-BE49-F238E27FC236}">
                <a16:creationId xmlns:a16="http://schemas.microsoft.com/office/drawing/2014/main" id="{79FF1FAA-CD43-CB25-103B-296B906520CE}"/>
              </a:ext>
            </a:extLst>
          </p:cNvPr>
          <p:cNvSpPr txBox="1"/>
          <p:nvPr/>
        </p:nvSpPr>
        <p:spPr>
          <a:xfrm>
            <a:off x="889000" y="4813300"/>
            <a:ext cx="4699000" cy="312906"/>
          </a:xfrm>
          <a:prstGeom prst="rect">
            <a:avLst/>
          </a:prstGeom>
          <a:noFill/>
        </p:spPr>
        <p:txBody>
          <a:bodyPr vert="horz" wrap="square" lIns="38100" tIns="25400" rIns="38100" bIns="25400" rtlCol="0">
            <a:spAutoFit/>
          </a:bodyPr>
          <a:lstStyle/>
          <a:p>
            <a:r>
              <a:rPr lang="en-US" sz="1700">
                <a:solidFill>
                  <a:srgbClr val="312C22"/>
                </a:solidFill>
                <a:latin typeface="Aptos" panose="020B0004020202020204" pitchFamily="34" charset="0"/>
              </a:rPr>
              <a:t>- Backend creates the customer order record.</a:t>
            </a:r>
            <a:endParaRPr lang="en-GB" sz="1700">
              <a:solidFill>
                <a:srgbClr val="312C22"/>
              </a:solidFill>
              <a:latin typeface="Aptos" panose="020B0004020202020204" pitchFamily="34" charset="0"/>
            </a:endParaRPr>
          </a:p>
        </p:txBody>
      </p:sp>
      <p:pic>
        <p:nvPicPr>
          <p:cNvPr id="19" name="Picture 18">
            <a:extLst>
              <a:ext uri="{FF2B5EF4-FFF2-40B4-BE49-F238E27FC236}">
                <a16:creationId xmlns:a16="http://schemas.microsoft.com/office/drawing/2014/main" id="{EA08E500-94F6-F8E6-0A86-48A713F928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0" y="3535331"/>
            <a:ext cx="4572000" cy="2200338"/>
          </a:xfrm>
          <a:prstGeom prst="rect">
            <a:avLst/>
          </a:prstGeom>
          <a:ln w="12700">
            <a:solidFill>
              <a:srgbClr val="D3D3D3"/>
            </a:solidFill>
          </a:ln>
        </p:spPr>
      </p:pic>
    </p:spTree>
    <p:extLst>
      <p:ext uri="{BB962C8B-B14F-4D97-AF65-F5344CB8AC3E}">
        <p14:creationId xmlns:p14="http://schemas.microsoft.com/office/powerpoint/2010/main" val="3930659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FD34A9-CA58-FB30-CDD1-1701F8224835}"/>
              </a:ext>
            </a:extLst>
          </p:cNvPr>
          <p:cNvSpPr txBox="1"/>
          <p:nvPr/>
        </p:nvSpPr>
        <p:spPr>
          <a:xfrm>
            <a:off x="635000" y="381000"/>
            <a:ext cx="10541000" cy="512961"/>
          </a:xfrm>
          <a:prstGeom prst="rect">
            <a:avLst/>
          </a:prstGeom>
          <a:noFill/>
        </p:spPr>
        <p:txBody>
          <a:bodyPr vert="horz" wrap="square" lIns="38100" tIns="25400" rIns="38100" bIns="25400" rtlCol="0">
            <a:spAutoFit/>
          </a:bodyPr>
          <a:lstStyle/>
          <a:p>
            <a:r>
              <a:rPr lang="en-GB" sz="3000" b="1">
                <a:solidFill>
                  <a:srgbClr val="15311E"/>
                </a:solidFill>
                <a:latin typeface="Aptos" panose="020B0004020202020204" pitchFamily="34" charset="0"/>
              </a:rPr>
              <a:t>Admin Workflow</a:t>
            </a:r>
          </a:p>
        </p:txBody>
      </p:sp>
      <p:sp>
        <p:nvSpPr>
          <p:cNvPr id="3" name="TextBox 2">
            <a:extLst>
              <a:ext uri="{FF2B5EF4-FFF2-40B4-BE49-F238E27FC236}">
                <a16:creationId xmlns:a16="http://schemas.microsoft.com/office/drawing/2014/main" id="{918B4449-9929-0464-9F42-C18F9893319B}"/>
              </a:ext>
            </a:extLst>
          </p:cNvPr>
          <p:cNvSpPr txBox="1"/>
          <p:nvPr/>
        </p:nvSpPr>
        <p:spPr>
          <a:xfrm>
            <a:off x="660400" y="1016000"/>
            <a:ext cx="9652000" cy="235962"/>
          </a:xfrm>
          <a:prstGeom prst="rect">
            <a:avLst/>
          </a:prstGeom>
          <a:noFill/>
        </p:spPr>
        <p:txBody>
          <a:bodyPr vert="horz" wrap="square" lIns="38100" tIns="25400" rIns="38100" bIns="25400" rtlCol="0">
            <a:spAutoFit/>
          </a:bodyPr>
          <a:lstStyle/>
          <a:p>
            <a:r>
              <a:rPr lang="en-US" sz="1200">
                <a:solidFill>
                  <a:srgbClr val="64645E"/>
                </a:solidFill>
                <a:latin typeface="Aptos" panose="020B0004020202020204" pitchFamily="34" charset="0"/>
              </a:rPr>
              <a:t>Admin users manage restaurant operations from a protected area.</a:t>
            </a:r>
            <a:endParaRPr lang="en-GB" sz="1200">
              <a:solidFill>
                <a:srgbClr val="64645E"/>
              </a:solidFill>
              <a:latin typeface="Aptos" panose="020B0004020202020204" pitchFamily="34" charset="0"/>
            </a:endParaRPr>
          </a:p>
        </p:txBody>
      </p:sp>
      <p:sp>
        <p:nvSpPr>
          <p:cNvPr id="4" name="Rectangle 3">
            <a:extLst>
              <a:ext uri="{FF2B5EF4-FFF2-40B4-BE49-F238E27FC236}">
                <a16:creationId xmlns:a16="http://schemas.microsoft.com/office/drawing/2014/main" id="{9C436EFF-F8DC-58B1-E6EC-0B9E2693276A}"/>
              </a:ext>
            </a:extLst>
          </p:cNvPr>
          <p:cNvSpPr/>
          <p:nvPr/>
        </p:nvSpPr>
        <p:spPr>
          <a:xfrm>
            <a:off x="635000" y="1473200"/>
            <a:ext cx="10668000" cy="25400"/>
          </a:xfrm>
          <a:prstGeom prst="rect">
            <a:avLst/>
          </a:prstGeom>
          <a:solidFill>
            <a:srgbClr val="6196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51518632-86EC-EA90-FD6C-9BDFE292FE82}"/>
              </a:ext>
            </a:extLst>
          </p:cNvPr>
          <p:cNvSpPr txBox="1"/>
          <p:nvPr/>
        </p:nvSpPr>
        <p:spPr>
          <a:xfrm>
            <a:off x="10033000" y="6375400"/>
            <a:ext cx="1524000" cy="205184"/>
          </a:xfrm>
          <a:prstGeom prst="rect">
            <a:avLst/>
          </a:prstGeom>
          <a:noFill/>
        </p:spPr>
        <p:txBody>
          <a:bodyPr vert="horz" wrap="square" lIns="38100" tIns="25400" rIns="38100" bIns="25400" rtlCol="0">
            <a:spAutoFit/>
          </a:bodyPr>
          <a:lstStyle/>
          <a:p>
            <a:r>
              <a:rPr lang="en-GB" sz="1000">
                <a:solidFill>
                  <a:srgbClr val="64645E"/>
                </a:solidFill>
                <a:latin typeface="Aptos" panose="020B0004020202020204" pitchFamily="34" charset="0"/>
              </a:rPr>
              <a:t>SmartDine | 7</a:t>
            </a:r>
          </a:p>
        </p:txBody>
      </p:sp>
      <p:sp>
        <p:nvSpPr>
          <p:cNvPr id="6" name="Rectangle: Rounded Corners 5">
            <a:extLst>
              <a:ext uri="{FF2B5EF4-FFF2-40B4-BE49-F238E27FC236}">
                <a16:creationId xmlns:a16="http://schemas.microsoft.com/office/drawing/2014/main" id="{91EE4B82-1F08-B32A-A57B-6580E09CB94A}"/>
              </a:ext>
            </a:extLst>
          </p:cNvPr>
          <p:cNvSpPr/>
          <p:nvPr/>
        </p:nvSpPr>
        <p:spPr>
          <a:xfrm>
            <a:off x="698500" y="1968500"/>
            <a:ext cx="17526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Admin login</a:t>
            </a:r>
          </a:p>
        </p:txBody>
      </p:sp>
      <p:sp>
        <p:nvSpPr>
          <p:cNvPr id="7" name="TextBox 6">
            <a:extLst>
              <a:ext uri="{FF2B5EF4-FFF2-40B4-BE49-F238E27FC236}">
                <a16:creationId xmlns:a16="http://schemas.microsoft.com/office/drawing/2014/main" id="{097EF644-D465-EB3D-D8DA-787CFCE89D5F}"/>
              </a:ext>
            </a:extLst>
          </p:cNvPr>
          <p:cNvSpPr txBox="1"/>
          <p:nvPr/>
        </p:nvSpPr>
        <p:spPr>
          <a:xfrm>
            <a:off x="2565400" y="21336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8" name="Rectangle: Rounded Corners 7">
            <a:extLst>
              <a:ext uri="{FF2B5EF4-FFF2-40B4-BE49-F238E27FC236}">
                <a16:creationId xmlns:a16="http://schemas.microsoft.com/office/drawing/2014/main" id="{6DBB8552-B503-607D-E848-E6961F18E736}"/>
              </a:ext>
            </a:extLst>
          </p:cNvPr>
          <p:cNvSpPr/>
          <p:nvPr/>
        </p:nvSpPr>
        <p:spPr>
          <a:xfrm>
            <a:off x="2984500" y="1968500"/>
            <a:ext cx="2413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Protected dashboard</a:t>
            </a:r>
          </a:p>
        </p:txBody>
      </p:sp>
      <p:sp>
        <p:nvSpPr>
          <p:cNvPr id="9" name="TextBox 8">
            <a:extLst>
              <a:ext uri="{FF2B5EF4-FFF2-40B4-BE49-F238E27FC236}">
                <a16:creationId xmlns:a16="http://schemas.microsoft.com/office/drawing/2014/main" id="{9EC3DBF3-83F3-120A-FB25-81D4E67467DE}"/>
              </a:ext>
            </a:extLst>
          </p:cNvPr>
          <p:cNvSpPr txBox="1"/>
          <p:nvPr/>
        </p:nvSpPr>
        <p:spPr>
          <a:xfrm>
            <a:off x="5524500" y="21336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10" name="Rectangle: Rounded Corners 9">
            <a:extLst>
              <a:ext uri="{FF2B5EF4-FFF2-40B4-BE49-F238E27FC236}">
                <a16:creationId xmlns:a16="http://schemas.microsoft.com/office/drawing/2014/main" id="{C7A12BC6-E9BF-1976-3138-B94CDAC37267}"/>
              </a:ext>
            </a:extLst>
          </p:cNvPr>
          <p:cNvSpPr/>
          <p:nvPr/>
        </p:nvSpPr>
        <p:spPr>
          <a:xfrm>
            <a:off x="5943600" y="1968500"/>
            <a:ext cx="2413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Update order status</a:t>
            </a:r>
          </a:p>
        </p:txBody>
      </p:sp>
      <p:sp>
        <p:nvSpPr>
          <p:cNvPr id="11" name="TextBox 10">
            <a:extLst>
              <a:ext uri="{FF2B5EF4-FFF2-40B4-BE49-F238E27FC236}">
                <a16:creationId xmlns:a16="http://schemas.microsoft.com/office/drawing/2014/main" id="{F0C20471-3A3F-E629-76EC-0FA6F0C9A6B1}"/>
              </a:ext>
            </a:extLst>
          </p:cNvPr>
          <p:cNvSpPr txBox="1"/>
          <p:nvPr/>
        </p:nvSpPr>
        <p:spPr>
          <a:xfrm>
            <a:off x="8483600" y="21336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12" name="Rectangle: Rounded Corners 11">
            <a:extLst>
              <a:ext uri="{FF2B5EF4-FFF2-40B4-BE49-F238E27FC236}">
                <a16:creationId xmlns:a16="http://schemas.microsoft.com/office/drawing/2014/main" id="{8E238FAB-939F-E340-D65A-65959BAA5F05}"/>
              </a:ext>
            </a:extLst>
          </p:cNvPr>
          <p:cNvSpPr/>
          <p:nvPr/>
        </p:nvSpPr>
        <p:spPr>
          <a:xfrm>
            <a:off x="8890000" y="1968500"/>
            <a:ext cx="2413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Customer sees progress</a:t>
            </a:r>
          </a:p>
        </p:txBody>
      </p:sp>
      <p:sp>
        <p:nvSpPr>
          <p:cNvPr id="13" name="TextBox 12">
            <a:extLst>
              <a:ext uri="{FF2B5EF4-FFF2-40B4-BE49-F238E27FC236}">
                <a16:creationId xmlns:a16="http://schemas.microsoft.com/office/drawing/2014/main" id="{9B33AA72-48C8-9D39-B5D3-410294B90036}"/>
              </a:ext>
            </a:extLst>
          </p:cNvPr>
          <p:cNvSpPr txBox="1"/>
          <p:nvPr/>
        </p:nvSpPr>
        <p:spPr>
          <a:xfrm>
            <a:off x="889000" y="3365500"/>
            <a:ext cx="5016500" cy="312906"/>
          </a:xfrm>
          <a:prstGeom prst="rect">
            <a:avLst/>
          </a:prstGeom>
          <a:noFill/>
        </p:spPr>
        <p:txBody>
          <a:bodyPr vert="horz" wrap="square" lIns="38100" tIns="25400" rIns="38100" bIns="25400" rtlCol="0">
            <a:spAutoFit/>
          </a:bodyPr>
          <a:lstStyle/>
          <a:p>
            <a:r>
              <a:rPr lang="en-US" sz="1700">
                <a:solidFill>
                  <a:srgbClr val="312C22"/>
                </a:solidFill>
                <a:latin typeface="Aptos" panose="020B0004020202020204" pitchFamily="34" charset="0"/>
              </a:rPr>
              <a:t>- Admin-only tools appear only for admin users.</a:t>
            </a:r>
            <a:endParaRPr lang="en-GB" sz="1700">
              <a:solidFill>
                <a:srgbClr val="312C22"/>
              </a:solidFill>
              <a:latin typeface="Aptos" panose="020B0004020202020204" pitchFamily="34" charset="0"/>
            </a:endParaRPr>
          </a:p>
        </p:txBody>
      </p:sp>
      <p:sp>
        <p:nvSpPr>
          <p:cNvPr id="14" name="TextBox 13">
            <a:extLst>
              <a:ext uri="{FF2B5EF4-FFF2-40B4-BE49-F238E27FC236}">
                <a16:creationId xmlns:a16="http://schemas.microsoft.com/office/drawing/2014/main" id="{C3DF0C58-7A34-7A13-CE3A-A5FA0E35F05D}"/>
              </a:ext>
            </a:extLst>
          </p:cNvPr>
          <p:cNvSpPr txBox="1"/>
          <p:nvPr/>
        </p:nvSpPr>
        <p:spPr>
          <a:xfrm>
            <a:off x="889000" y="4076700"/>
            <a:ext cx="5016500" cy="574516"/>
          </a:xfrm>
          <a:prstGeom prst="rect">
            <a:avLst/>
          </a:prstGeom>
          <a:noFill/>
        </p:spPr>
        <p:txBody>
          <a:bodyPr vert="horz" wrap="square" lIns="38100" tIns="25400" rIns="38100" bIns="25400" rtlCol="0">
            <a:spAutoFit/>
          </a:bodyPr>
          <a:lstStyle/>
          <a:p>
            <a:r>
              <a:rPr lang="en-US" sz="1700">
                <a:solidFill>
                  <a:srgbClr val="312C22"/>
                </a:solidFill>
                <a:latin typeface="Aptos" panose="020B0004020202020204" pitchFamily="34" charset="0"/>
              </a:rPr>
              <a:t>- Role-based access blocks customers from admin actions.</a:t>
            </a:r>
            <a:endParaRPr lang="en-GB" sz="1700">
              <a:solidFill>
                <a:srgbClr val="312C22"/>
              </a:solidFill>
              <a:latin typeface="Aptos" panose="020B0004020202020204" pitchFamily="34" charset="0"/>
            </a:endParaRPr>
          </a:p>
        </p:txBody>
      </p:sp>
      <p:sp>
        <p:nvSpPr>
          <p:cNvPr id="15" name="TextBox 14">
            <a:extLst>
              <a:ext uri="{FF2B5EF4-FFF2-40B4-BE49-F238E27FC236}">
                <a16:creationId xmlns:a16="http://schemas.microsoft.com/office/drawing/2014/main" id="{A3ED47F1-6FDC-0DA5-3022-412F14A82194}"/>
              </a:ext>
            </a:extLst>
          </p:cNvPr>
          <p:cNvSpPr txBox="1"/>
          <p:nvPr/>
        </p:nvSpPr>
        <p:spPr>
          <a:xfrm>
            <a:off x="889000" y="4787900"/>
            <a:ext cx="5016500" cy="312906"/>
          </a:xfrm>
          <a:prstGeom prst="rect">
            <a:avLst/>
          </a:prstGeom>
          <a:noFill/>
        </p:spPr>
        <p:txBody>
          <a:bodyPr vert="horz" wrap="square" lIns="38100" tIns="25400" rIns="38100" bIns="25400" rtlCol="0">
            <a:spAutoFit/>
          </a:bodyPr>
          <a:lstStyle/>
          <a:p>
            <a:r>
              <a:rPr lang="en-US" sz="1700">
                <a:solidFill>
                  <a:srgbClr val="312C22"/>
                </a:solidFill>
                <a:latin typeface="Aptos" panose="020B0004020202020204" pitchFamily="34" charset="0"/>
              </a:rPr>
              <a:t>- Admin accounts cannot place customer orders.</a:t>
            </a:r>
            <a:endParaRPr lang="en-GB" sz="1700">
              <a:solidFill>
                <a:srgbClr val="312C22"/>
              </a:solidFill>
              <a:latin typeface="Aptos" panose="020B0004020202020204" pitchFamily="34" charset="0"/>
            </a:endParaRPr>
          </a:p>
        </p:txBody>
      </p:sp>
      <p:pic>
        <p:nvPicPr>
          <p:cNvPr id="17" name="Picture 16">
            <a:extLst>
              <a:ext uri="{FF2B5EF4-FFF2-40B4-BE49-F238E27FC236}">
                <a16:creationId xmlns:a16="http://schemas.microsoft.com/office/drawing/2014/main" id="{15D3EB07-4D3C-D948-2927-CC26F40850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0500" y="3428749"/>
            <a:ext cx="4318000" cy="2045202"/>
          </a:xfrm>
          <a:prstGeom prst="rect">
            <a:avLst/>
          </a:prstGeom>
          <a:ln w="12700">
            <a:solidFill>
              <a:srgbClr val="D3D3D3"/>
            </a:solidFill>
          </a:ln>
        </p:spPr>
      </p:pic>
    </p:spTree>
    <p:extLst>
      <p:ext uri="{BB962C8B-B14F-4D97-AF65-F5344CB8AC3E}">
        <p14:creationId xmlns:p14="http://schemas.microsoft.com/office/powerpoint/2010/main" val="1129497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A28296-8C88-B95A-B46A-1B02B060A69A}"/>
              </a:ext>
            </a:extLst>
          </p:cNvPr>
          <p:cNvSpPr txBox="1"/>
          <p:nvPr/>
        </p:nvSpPr>
        <p:spPr>
          <a:xfrm>
            <a:off x="635000" y="381000"/>
            <a:ext cx="10541000" cy="512961"/>
          </a:xfrm>
          <a:prstGeom prst="rect">
            <a:avLst/>
          </a:prstGeom>
          <a:noFill/>
        </p:spPr>
        <p:txBody>
          <a:bodyPr vert="horz" wrap="square" lIns="38100" tIns="25400" rIns="38100" bIns="25400" rtlCol="0">
            <a:spAutoFit/>
          </a:bodyPr>
          <a:lstStyle/>
          <a:p>
            <a:r>
              <a:rPr lang="en-US" sz="3000" b="1">
                <a:solidFill>
                  <a:srgbClr val="15311E"/>
                </a:solidFill>
                <a:latin typeface="Aptos" panose="020B0004020202020204" pitchFamily="34" charset="0"/>
              </a:rPr>
              <a:t>Backend API and Access Control</a:t>
            </a:r>
            <a:endParaRPr lang="en-GB" sz="3000" b="1">
              <a:solidFill>
                <a:srgbClr val="15311E"/>
              </a:solidFill>
              <a:latin typeface="Aptos" panose="020B0004020202020204" pitchFamily="34" charset="0"/>
            </a:endParaRPr>
          </a:p>
        </p:txBody>
      </p:sp>
      <p:sp>
        <p:nvSpPr>
          <p:cNvPr id="3" name="TextBox 2">
            <a:extLst>
              <a:ext uri="{FF2B5EF4-FFF2-40B4-BE49-F238E27FC236}">
                <a16:creationId xmlns:a16="http://schemas.microsoft.com/office/drawing/2014/main" id="{DC41460E-837D-E11F-68E6-0C16975AE244}"/>
              </a:ext>
            </a:extLst>
          </p:cNvPr>
          <p:cNvSpPr txBox="1"/>
          <p:nvPr/>
        </p:nvSpPr>
        <p:spPr>
          <a:xfrm>
            <a:off x="660400" y="1016000"/>
            <a:ext cx="9652000" cy="235962"/>
          </a:xfrm>
          <a:prstGeom prst="rect">
            <a:avLst/>
          </a:prstGeom>
          <a:noFill/>
        </p:spPr>
        <p:txBody>
          <a:bodyPr vert="horz" wrap="square" lIns="38100" tIns="25400" rIns="38100" bIns="25400" rtlCol="0">
            <a:spAutoFit/>
          </a:bodyPr>
          <a:lstStyle/>
          <a:p>
            <a:r>
              <a:rPr lang="en-US" sz="1200">
                <a:solidFill>
                  <a:srgbClr val="64645E"/>
                </a:solidFill>
                <a:latin typeface="Aptos" panose="020B0004020202020204" pitchFamily="34" charset="0"/>
              </a:rPr>
              <a:t>The backend keeps application rules outside the frontend.</a:t>
            </a:r>
            <a:endParaRPr lang="en-GB" sz="1200">
              <a:solidFill>
                <a:srgbClr val="64645E"/>
              </a:solidFill>
              <a:latin typeface="Aptos" panose="020B0004020202020204" pitchFamily="34" charset="0"/>
            </a:endParaRPr>
          </a:p>
        </p:txBody>
      </p:sp>
      <p:sp>
        <p:nvSpPr>
          <p:cNvPr id="4" name="Rectangle 3">
            <a:extLst>
              <a:ext uri="{FF2B5EF4-FFF2-40B4-BE49-F238E27FC236}">
                <a16:creationId xmlns:a16="http://schemas.microsoft.com/office/drawing/2014/main" id="{F79CDD5C-8902-A00C-ED87-EB5A4CFE1A1E}"/>
              </a:ext>
            </a:extLst>
          </p:cNvPr>
          <p:cNvSpPr/>
          <p:nvPr/>
        </p:nvSpPr>
        <p:spPr>
          <a:xfrm>
            <a:off x="635000" y="1473200"/>
            <a:ext cx="10668000" cy="25400"/>
          </a:xfrm>
          <a:prstGeom prst="rect">
            <a:avLst/>
          </a:prstGeom>
          <a:solidFill>
            <a:srgbClr val="6196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9CC1053D-4A0E-F740-B1F8-081467D3F52C}"/>
              </a:ext>
            </a:extLst>
          </p:cNvPr>
          <p:cNvSpPr txBox="1"/>
          <p:nvPr/>
        </p:nvSpPr>
        <p:spPr>
          <a:xfrm>
            <a:off x="10033000" y="6375400"/>
            <a:ext cx="1524000" cy="205184"/>
          </a:xfrm>
          <a:prstGeom prst="rect">
            <a:avLst/>
          </a:prstGeom>
          <a:noFill/>
        </p:spPr>
        <p:txBody>
          <a:bodyPr vert="horz" wrap="square" lIns="38100" tIns="25400" rIns="38100" bIns="25400" rtlCol="0">
            <a:spAutoFit/>
          </a:bodyPr>
          <a:lstStyle/>
          <a:p>
            <a:r>
              <a:rPr lang="en-GB" sz="1000">
                <a:solidFill>
                  <a:srgbClr val="64645E"/>
                </a:solidFill>
                <a:latin typeface="Aptos" panose="020B0004020202020204" pitchFamily="34" charset="0"/>
              </a:rPr>
              <a:t>SmartDine | 8</a:t>
            </a:r>
          </a:p>
        </p:txBody>
      </p:sp>
      <p:sp>
        <p:nvSpPr>
          <p:cNvPr id="6" name="Rectangle: Rounded Corners 5">
            <a:extLst>
              <a:ext uri="{FF2B5EF4-FFF2-40B4-BE49-F238E27FC236}">
                <a16:creationId xmlns:a16="http://schemas.microsoft.com/office/drawing/2014/main" id="{6E2820D8-2A54-87A1-0008-29815B891145}"/>
              </a:ext>
            </a:extLst>
          </p:cNvPr>
          <p:cNvSpPr/>
          <p:nvPr/>
        </p:nvSpPr>
        <p:spPr>
          <a:xfrm>
            <a:off x="825500" y="2159000"/>
            <a:ext cx="1778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Request</a:t>
            </a:r>
          </a:p>
        </p:txBody>
      </p:sp>
      <p:sp>
        <p:nvSpPr>
          <p:cNvPr id="7" name="TextBox 6">
            <a:extLst>
              <a:ext uri="{FF2B5EF4-FFF2-40B4-BE49-F238E27FC236}">
                <a16:creationId xmlns:a16="http://schemas.microsoft.com/office/drawing/2014/main" id="{474C39FB-4D16-3BCE-C666-D2E6ACAFFA02}"/>
              </a:ext>
            </a:extLst>
          </p:cNvPr>
          <p:cNvSpPr txBox="1"/>
          <p:nvPr/>
        </p:nvSpPr>
        <p:spPr>
          <a:xfrm>
            <a:off x="2717800" y="23114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8" name="Rectangle: Rounded Corners 7">
            <a:extLst>
              <a:ext uri="{FF2B5EF4-FFF2-40B4-BE49-F238E27FC236}">
                <a16:creationId xmlns:a16="http://schemas.microsoft.com/office/drawing/2014/main" id="{6B918B48-0480-7E96-5084-959B7913E900}"/>
              </a:ext>
            </a:extLst>
          </p:cNvPr>
          <p:cNvSpPr/>
          <p:nvPr/>
        </p:nvSpPr>
        <p:spPr>
          <a:xfrm>
            <a:off x="3149600" y="2159000"/>
            <a:ext cx="2032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Session check</a:t>
            </a:r>
          </a:p>
        </p:txBody>
      </p:sp>
      <p:sp>
        <p:nvSpPr>
          <p:cNvPr id="9" name="TextBox 8">
            <a:extLst>
              <a:ext uri="{FF2B5EF4-FFF2-40B4-BE49-F238E27FC236}">
                <a16:creationId xmlns:a16="http://schemas.microsoft.com/office/drawing/2014/main" id="{5FF0C33A-31E8-01AA-8C4B-4321F5387FBD}"/>
              </a:ext>
            </a:extLst>
          </p:cNvPr>
          <p:cNvSpPr txBox="1"/>
          <p:nvPr/>
        </p:nvSpPr>
        <p:spPr>
          <a:xfrm>
            <a:off x="5308600" y="23114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10" name="Rectangle: Rounded Corners 9">
            <a:extLst>
              <a:ext uri="{FF2B5EF4-FFF2-40B4-BE49-F238E27FC236}">
                <a16:creationId xmlns:a16="http://schemas.microsoft.com/office/drawing/2014/main" id="{03F6E044-8841-4AF0-5B8E-F8109810D4FC}"/>
              </a:ext>
            </a:extLst>
          </p:cNvPr>
          <p:cNvSpPr/>
          <p:nvPr/>
        </p:nvSpPr>
        <p:spPr>
          <a:xfrm>
            <a:off x="5740400" y="2159000"/>
            <a:ext cx="22606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Role middleware</a:t>
            </a:r>
          </a:p>
        </p:txBody>
      </p:sp>
      <p:sp>
        <p:nvSpPr>
          <p:cNvPr id="11" name="TextBox 10">
            <a:extLst>
              <a:ext uri="{FF2B5EF4-FFF2-40B4-BE49-F238E27FC236}">
                <a16:creationId xmlns:a16="http://schemas.microsoft.com/office/drawing/2014/main" id="{94E8E30C-A1C7-9E54-0B58-887035045B1F}"/>
              </a:ext>
            </a:extLst>
          </p:cNvPr>
          <p:cNvSpPr txBox="1"/>
          <p:nvPr/>
        </p:nvSpPr>
        <p:spPr>
          <a:xfrm>
            <a:off x="8128000" y="23114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12" name="Rectangle: Rounded Corners 11">
            <a:extLst>
              <a:ext uri="{FF2B5EF4-FFF2-40B4-BE49-F238E27FC236}">
                <a16:creationId xmlns:a16="http://schemas.microsoft.com/office/drawing/2014/main" id="{968FF3F2-B4E3-C6E9-14C1-87C6F4AA2A8E}"/>
              </a:ext>
            </a:extLst>
          </p:cNvPr>
          <p:cNvSpPr/>
          <p:nvPr/>
        </p:nvSpPr>
        <p:spPr>
          <a:xfrm>
            <a:off x="8572500" y="2159000"/>
            <a:ext cx="2032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API response</a:t>
            </a:r>
          </a:p>
        </p:txBody>
      </p:sp>
      <p:sp>
        <p:nvSpPr>
          <p:cNvPr id="13" name="TextBox 12">
            <a:extLst>
              <a:ext uri="{FF2B5EF4-FFF2-40B4-BE49-F238E27FC236}">
                <a16:creationId xmlns:a16="http://schemas.microsoft.com/office/drawing/2014/main" id="{9E71E440-487D-8C6D-D528-BE4885CC0558}"/>
              </a:ext>
            </a:extLst>
          </p:cNvPr>
          <p:cNvSpPr txBox="1"/>
          <p:nvPr/>
        </p:nvSpPr>
        <p:spPr>
          <a:xfrm>
            <a:off x="1333500" y="3746500"/>
            <a:ext cx="9144000" cy="343684"/>
          </a:xfrm>
          <a:prstGeom prst="rect">
            <a:avLst/>
          </a:prstGeom>
          <a:noFill/>
        </p:spPr>
        <p:txBody>
          <a:bodyPr vert="horz" wrap="square" lIns="38100" tIns="25400" rIns="38100" bIns="25400" rtlCol="0">
            <a:spAutoFit/>
          </a:bodyPr>
          <a:lstStyle/>
          <a:p>
            <a:r>
              <a:rPr lang="en-US" sz="1900">
                <a:solidFill>
                  <a:srgbClr val="312C22"/>
                </a:solidFill>
                <a:latin typeface="Aptos" panose="020B0004020202020204" pitchFamily="34" charset="0"/>
              </a:rPr>
              <a:t>- Authentication, menu, order, and chatbot routes are separated.</a:t>
            </a:r>
            <a:endParaRPr lang="en-GB" sz="1900">
              <a:solidFill>
                <a:srgbClr val="312C22"/>
              </a:solidFill>
              <a:latin typeface="Aptos" panose="020B0004020202020204" pitchFamily="34" charset="0"/>
            </a:endParaRPr>
          </a:p>
        </p:txBody>
      </p:sp>
      <p:sp>
        <p:nvSpPr>
          <p:cNvPr id="14" name="TextBox 13">
            <a:extLst>
              <a:ext uri="{FF2B5EF4-FFF2-40B4-BE49-F238E27FC236}">
                <a16:creationId xmlns:a16="http://schemas.microsoft.com/office/drawing/2014/main" id="{5CA9918E-F02C-A185-6A70-7B0155B1F8A8}"/>
              </a:ext>
            </a:extLst>
          </p:cNvPr>
          <p:cNvSpPr txBox="1"/>
          <p:nvPr/>
        </p:nvSpPr>
        <p:spPr>
          <a:xfrm>
            <a:off x="1333500" y="4457700"/>
            <a:ext cx="9144000" cy="343684"/>
          </a:xfrm>
          <a:prstGeom prst="rect">
            <a:avLst/>
          </a:prstGeom>
          <a:noFill/>
        </p:spPr>
        <p:txBody>
          <a:bodyPr vert="horz" wrap="square" lIns="38100" tIns="25400" rIns="38100" bIns="25400" rtlCol="0">
            <a:spAutoFit/>
          </a:bodyPr>
          <a:lstStyle/>
          <a:p>
            <a:r>
              <a:rPr lang="en-US" sz="1900">
                <a:solidFill>
                  <a:srgbClr val="312C22"/>
                </a:solidFill>
                <a:latin typeface="Aptos" panose="020B0004020202020204" pitchFamily="34" charset="0"/>
              </a:rPr>
              <a:t>- Admin routes are protected by role checks.</a:t>
            </a:r>
            <a:endParaRPr lang="en-GB" sz="1900">
              <a:solidFill>
                <a:srgbClr val="312C22"/>
              </a:solidFill>
              <a:latin typeface="Aptos" panose="020B0004020202020204" pitchFamily="34" charset="0"/>
            </a:endParaRPr>
          </a:p>
        </p:txBody>
      </p:sp>
      <p:sp>
        <p:nvSpPr>
          <p:cNvPr id="15" name="TextBox 14">
            <a:extLst>
              <a:ext uri="{FF2B5EF4-FFF2-40B4-BE49-F238E27FC236}">
                <a16:creationId xmlns:a16="http://schemas.microsoft.com/office/drawing/2014/main" id="{8036F75B-50F4-6E9D-95CC-A3BF08BAB96C}"/>
              </a:ext>
            </a:extLst>
          </p:cNvPr>
          <p:cNvSpPr txBox="1"/>
          <p:nvPr/>
        </p:nvSpPr>
        <p:spPr>
          <a:xfrm>
            <a:off x="1333500" y="5168900"/>
            <a:ext cx="9144000" cy="343684"/>
          </a:xfrm>
          <a:prstGeom prst="rect">
            <a:avLst/>
          </a:prstGeom>
          <a:noFill/>
        </p:spPr>
        <p:txBody>
          <a:bodyPr vert="horz" wrap="square" lIns="38100" tIns="25400" rIns="38100" bIns="25400" rtlCol="0">
            <a:spAutoFit/>
          </a:bodyPr>
          <a:lstStyle/>
          <a:p>
            <a:r>
              <a:rPr lang="en-US" sz="1900">
                <a:solidFill>
                  <a:srgbClr val="312C22"/>
                </a:solidFill>
                <a:latin typeface="Aptos" panose="020B0004020202020204" pitchFamily="34" charset="0"/>
              </a:rPr>
              <a:t>- Validation messages explain missing or incorrect data.</a:t>
            </a:r>
            <a:endParaRPr lang="en-GB" sz="1900">
              <a:solidFill>
                <a:srgbClr val="312C22"/>
              </a:solidFill>
              <a:latin typeface="Aptos" panose="020B0004020202020204" pitchFamily="34" charset="0"/>
            </a:endParaRPr>
          </a:p>
        </p:txBody>
      </p:sp>
    </p:spTree>
    <p:extLst>
      <p:ext uri="{BB962C8B-B14F-4D97-AF65-F5344CB8AC3E}">
        <p14:creationId xmlns:p14="http://schemas.microsoft.com/office/powerpoint/2010/main" val="3661531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4A76CF-BEE3-8D81-EDED-D424F62F38F0}"/>
              </a:ext>
            </a:extLst>
          </p:cNvPr>
          <p:cNvSpPr txBox="1"/>
          <p:nvPr/>
        </p:nvSpPr>
        <p:spPr>
          <a:xfrm>
            <a:off x="635000" y="381000"/>
            <a:ext cx="10541000" cy="512961"/>
          </a:xfrm>
          <a:prstGeom prst="rect">
            <a:avLst/>
          </a:prstGeom>
          <a:noFill/>
        </p:spPr>
        <p:txBody>
          <a:bodyPr vert="horz" wrap="square" lIns="38100" tIns="25400" rIns="38100" bIns="25400" rtlCol="0">
            <a:spAutoFit/>
          </a:bodyPr>
          <a:lstStyle/>
          <a:p>
            <a:r>
              <a:rPr lang="en-GB" sz="3000" b="1">
                <a:solidFill>
                  <a:srgbClr val="15311E"/>
                </a:solidFill>
                <a:latin typeface="Aptos" panose="020B0004020202020204" pitchFamily="34" charset="0"/>
              </a:rPr>
              <a:t>SmartDine Assistant</a:t>
            </a:r>
          </a:p>
        </p:txBody>
      </p:sp>
      <p:sp>
        <p:nvSpPr>
          <p:cNvPr id="3" name="TextBox 2">
            <a:extLst>
              <a:ext uri="{FF2B5EF4-FFF2-40B4-BE49-F238E27FC236}">
                <a16:creationId xmlns:a16="http://schemas.microsoft.com/office/drawing/2014/main" id="{5911FC5D-F90A-7AFF-94BC-A3480D4E4AB6}"/>
              </a:ext>
            </a:extLst>
          </p:cNvPr>
          <p:cNvSpPr txBox="1"/>
          <p:nvPr/>
        </p:nvSpPr>
        <p:spPr>
          <a:xfrm>
            <a:off x="660400" y="1016000"/>
            <a:ext cx="9652000" cy="235962"/>
          </a:xfrm>
          <a:prstGeom prst="rect">
            <a:avLst/>
          </a:prstGeom>
          <a:noFill/>
        </p:spPr>
        <p:txBody>
          <a:bodyPr vert="horz" wrap="square" lIns="38100" tIns="25400" rIns="38100" bIns="25400" rtlCol="0">
            <a:spAutoFit/>
          </a:bodyPr>
          <a:lstStyle/>
          <a:p>
            <a:r>
              <a:rPr lang="en-GB" sz="1200">
                <a:solidFill>
                  <a:srgbClr val="64645E"/>
                </a:solidFill>
                <a:latin typeface="Aptos" panose="020B0004020202020204" pitchFamily="34" charset="0"/>
              </a:rPr>
              <a:t>A focused rule-based assistant supports restaurant questions.</a:t>
            </a:r>
          </a:p>
        </p:txBody>
      </p:sp>
      <p:sp>
        <p:nvSpPr>
          <p:cNvPr id="4" name="Rectangle 3">
            <a:extLst>
              <a:ext uri="{FF2B5EF4-FFF2-40B4-BE49-F238E27FC236}">
                <a16:creationId xmlns:a16="http://schemas.microsoft.com/office/drawing/2014/main" id="{023D5882-35AD-8B94-CCE7-C7A63F81FFC9}"/>
              </a:ext>
            </a:extLst>
          </p:cNvPr>
          <p:cNvSpPr/>
          <p:nvPr/>
        </p:nvSpPr>
        <p:spPr>
          <a:xfrm>
            <a:off x="635000" y="1473200"/>
            <a:ext cx="10668000" cy="25400"/>
          </a:xfrm>
          <a:prstGeom prst="rect">
            <a:avLst/>
          </a:prstGeom>
          <a:solidFill>
            <a:srgbClr val="6196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9C8C4184-C1A3-4BAF-4339-C6882E905E80}"/>
              </a:ext>
            </a:extLst>
          </p:cNvPr>
          <p:cNvSpPr txBox="1"/>
          <p:nvPr/>
        </p:nvSpPr>
        <p:spPr>
          <a:xfrm>
            <a:off x="10033000" y="6375400"/>
            <a:ext cx="1524000" cy="205184"/>
          </a:xfrm>
          <a:prstGeom prst="rect">
            <a:avLst/>
          </a:prstGeom>
          <a:noFill/>
        </p:spPr>
        <p:txBody>
          <a:bodyPr vert="horz" wrap="square" lIns="38100" tIns="25400" rIns="38100" bIns="25400" rtlCol="0">
            <a:spAutoFit/>
          </a:bodyPr>
          <a:lstStyle/>
          <a:p>
            <a:r>
              <a:rPr lang="en-GB" sz="1000">
                <a:solidFill>
                  <a:srgbClr val="64645E"/>
                </a:solidFill>
                <a:latin typeface="Aptos" panose="020B0004020202020204" pitchFamily="34" charset="0"/>
              </a:rPr>
              <a:t>SmartDine | 9</a:t>
            </a:r>
          </a:p>
        </p:txBody>
      </p:sp>
      <p:sp>
        <p:nvSpPr>
          <p:cNvPr id="6" name="TextBox 5">
            <a:extLst>
              <a:ext uri="{FF2B5EF4-FFF2-40B4-BE49-F238E27FC236}">
                <a16:creationId xmlns:a16="http://schemas.microsoft.com/office/drawing/2014/main" id="{B9BBC6D5-85AB-B10F-0BF7-F3CA241D3B77}"/>
              </a:ext>
            </a:extLst>
          </p:cNvPr>
          <p:cNvSpPr txBox="1"/>
          <p:nvPr/>
        </p:nvSpPr>
        <p:spPr>
          <a:xfrm>
            <a:off x="825500" y="1968500"/>
            <a:ext cx="4889500" cy="312906"/>
          </a:xfrm>
          <a:prstGeom prst="rect">
            <a:avLst/>
          </a:prstGeom>
          <a:noFill/>
        </p:spPr>
        <p:txBody>
          <a:bodyPr vert="horz" wrap="square" lIns="38100" tIns="25400" rIns="38100" bIns="25400" rtlCol="0">
            <a:spAutoFit/>
          </a:bodyPr>
          <a:lstStyle/>
          <a:p>
            <a:r>
              <a:rPr lang="en-GB" sz="1700">
                <a:solidFill>
                  <a:srgbClr val="312C22"/>
                </a:solidFill>
                <a:latin typeface="Aptos" panose="020B0004020202020204" pitchFamily="34" charset="0"/>
              </a:rPr>
              <a:t>- Not a general chatbot.</a:t>
            </a:r>
          </a:p>
        </p:txBody>
      </p:sp>
      <p:sp>
        <p:nvSpPr>
          <p:cNvPr id="7" name="TextBox 6">
            <a:extLst>
              <a:ext uri="{FF2B5EF4-FFF2-40B4-BE49-F238E27FC236}">
                <a16:creationId xmlns:a16="http://schemas.microsoft.com/office/drawing/2014/main" id="{3463E289-476E-22E6-5EA6-CC79111906AF}"/>
              </a:ext>
            </a:extLst>
          </p:cNvPr>
          <p:cNvSpPr txBox="1"/>
          <p:nvPr/>
        </p:nvSpPr>
        <p:spPr>
          <a:xfrm>
            <a:off x="825500" y="2679700"/>
            <a:ext cx="4889500" cy="312906"/>
          </a:xfrm>
          <a:prstGeom prst="rect">
            <a:avLst/>
          </a:prstGeom>
          <a:noFill/>
        </p:spPr>
        <p:txBody>
          <a:bodyPr vert="horz" wrap="square" lIns="38100" tIns="25400" rIns="38100" bIns="25400" rtlCol="0">
            <a:spAutoFit/>
          </a:bodyPr>
          <a:lstStyle/>
          <a:p>
            <a:r>
              <a:rPr lang="en-US" sz="1700">
                <a:solidFill>
                  <a:srgbClr val="312C22"/>
                </a:solidFill>
                <a:latin typeface="Aptos" panose="020B0004020202020204" pitchFamily="34" charset="0"/>
              </a:rPr>
              <a:t>- Answers within the SmartDine workflow.</a:t>
            </a:r>
            <a:endParaRPr lang="en-GB" sz="1700">
              <a:solidFill>
                <a:srgbClr val="312C22"/>
              </a:solidFill>
              <a:latin typeface="Aptos" panose="020B0004020202020204" pitchFamily="34" charset="0"/>
            </a:endParaRPr>
          </a:p>
        </p:txBody>
      </p:sp>
      <p:sp>
        <p:nvSpPr>
          <p:cNvPr id="8" name="TextBox 7">
            <a:extLst>
              <a:ext uri="{FF2B5EF4-FFF2-40B4-BE49-F238E27FC236}">
                <a16:creationId xmlns:a16="http://schemas.microsoft.com/office/drawing/2014/main" id="{41A10F6C-24F6-859D-6999-44AA5FB7CF1A}"/>
              </a:ext>
            </a:extLst>
          </p:cNvPr>
          <p:cNvSpPr txBox="1"/>
          <p:nvPr/>
        </p:nvSpPr>
        <p:spPr>
          <a:xfrm>
            <a:off x="825500" y="3390900"/>
            <a:ext cx="4889500" cy="574516"/>
          </a:xfrm>
          <a:prstGeom prst="rect">
            <a:avLst/>
          </a:prstGeom>
          <a:noFill/>
        </p:spPr>
        <p:txBody>
          <a:bodyPr vert="horz" wrap="square" lIns="38100" tIns="25400" rIns="38100" bIns="25400" rtlCol="0">
            <a:spAutoFit/>
          </a:bodyPr>
          <a:lstStyle/>
          <a:p>
            <a:r>
              <a:rPr lang="en-US" sz="1700">
                <a:solidFill>
                  <a:srgbClr val="312C22"/>
                </a:solidFill>
                <a:latin typeface="Aptos" panose="020B0004020202020204" pitchFamily="34" charset="0"/>
              </a:rPr>
              <a:t>- Asks taste preferences before recommending food.</a:t>
            </a:r>
            <a:endParaRPr lang="en-GB" sz="1700">
              <a:solidFill>
                <a:srgbClr val="312C22"/>
              </a:solidFill>
              <a:latin typeface="Aptos" panose="020B0004020202020204" pitchFamily="34" charset="0"/>
            </a:endParaRPr>
          </a:p>
        </p:txBody>
      </p:sp>
      <p:sp>
        <p:nvSpPr>
          <p:cNvPr id="9" name="TextBox 8">
            <a:extLst>
              <a:ext uri="{FF2B5EF4-FFF2-40B4-BE49-F238E27FC236}">
                <a16:creationId xmlns:a16="http://schemas.microsoft.com/office/drawing/2014/main" id="{0B47E580-0CD8-C886-68DD-686BA05988CB}"/>
              </a:ext>
            </a:extLst>
          </p:cNvPr>
          <p:cNvSpPr txBox="1"/>
          <p:nvPr/>
        </p:nvSpPr>
        <p:spPr>
          <a:xfrm>
            <a:off x="825500" y="4102100"/>
            <a:ext cx="4889500" cy="574516"/>
          </a:xfrm>
          <a:prstGeom prst="rect">
            <a:avLst/>
          </a:prstGeom>
          <a:noFill/>
        </p:spPr>
        <p:txBody>
          <a:bodyPr vert="horz" wrap="square" lIns="38100" tIns="25400" rIns="38100" bIns="25400" rtlCol="0">
            <a:spAutoFit/>
          </a:bodyPr>
          <a:lstStyle/>
          <a:p>
            <a:r>
              <a:rPr lang="en-US" sz="1700">
                <a:solidFill>
                  <a:srgbClr val="312C22"/>
                </a:solidFill>
                <a:latin typeface="Aptos" panose="020B0004020202020204" pitchFamily="34" charset="0"/>
              </a:rPr>
              <a:t>- Helps with spice levels, ordering steps, and order status.</a:t>
            </a:r>
            <a:endParaRPr lang="en-GB" sz="1700">
              <a:solidFill>
                <a:srgbClr val="312C22"/>
              </a:solidFill>
              <a:latin typeface="Aptos" panose="020B0004020202020204" pitchFamily="34" charset="0"/>
            </a:endParaRPr>
          </a:p>
        </p:txBody>
      </p:sp>
      <p:pic>
        <p:nvPicPr>
          <p:cNvPr id="11" name="Picture 10">
            <a:extLst>
              <a:ext uri="{FF2B5EF4-FFF2-40B4-BE49-F238E27FC236}">
                <a16:creationId xmlns:a16="http://schemas.microsoft.com/office/drawing/2014/main" id="{E502150D-1039-9242-C5C3-5EFE514FD5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3000" y="2538140"/>
            <a:ext cx="4953000" cy="2353219"/>
          </a:xfrm>
          <a:prstGeom prst="rect">
            <a:avLst/>
          </a:prstGeom>
          <a:ln w="12700">
            <a:solidFill>
              <a:srgbClr val="D3D3D3"/>
            </a:solidFill>
          </a:ln>
        </p:spPr>
      </p:pic>
    </p:spTree>
    <p:extLst>
      <p:ext uri="{BB962C8B-B14F-4D97-AF65-F5344CB8AC3E}">
        <p14:creationId xmlns:p14="http://schemas.microsoft.com/office/powerpoint/2010/main" val="1619269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583D48-2C20-B3E9-BA3F-4389A2670C9C}"/>
              </a:ext>
            </a:extLst>
          </p:cNvPr>
          <p:cNvSpPr txBox="1"/>
          <p:nvPr/>
        </p:nvSpPr>
        <p:spPr>
          <a:xfrm>
            <a:off x="635000" y="381000"/>
            <a:ext cx="10541000" cy="512961"/>
          </a:xfrm>
          <a:prstGeom prst="rect">
            <a:avLst/>
          </a:prstGeom>
          <a:noFill/>
        </p:spPr>
        <p:txBody>
          <a:bodyPr vert="horz" wrap="square" lIns="38100" tIns="25400" rIns="38100" bIns="25400" rtlCol="0">
            <a:spAutoFit/>
          </a:bodyPr>
          <a:lstStyle/>
          <a:p>
            <a:r>
              <a:rPr lang="en-GB" sz="3000" b="1">
                <a:solidFill>
                  <a:srgbClr val="15311E"/>
                </a:solidFill>
                <a:latin typeface="Aptos" panose="020B0004020202020204" pitchFamily="34" charset="0"/>
              </a:rPr>
              <a:t>Database Design</a:t>
            </a:r>
          </a:p>
        </p:txBody>
      </p:sp>
      <p:sp>
        <p:nvSpPr>
          <p:cNvPr id="3" name="TextBox 2">
            <a:extLst>
              <a:ext uri="{FF2B5EF4-FFF2-40B4-BE49-F238E27FC236}">
                <a16:creationId xmlns:a16="http://schemas.microsoft.com/office/drawing/2014/main" id="{F434FBE0-2E14-6002-3CBD-06C06537A7FC}"/>
              </a:ext>
            </a:extLst>
          </p:cNvPr>
          <p:cNvSpPr txBox="1"/>
          <p:nvPr/>
        </p:nvSpPr>
        <p:spPr>
          <a:xfrm>
            <a:off x="660400" y="1016000"/>
            <a:ext cx="9652000" cy="235962"/>
          </a:xfrm>
          <a:prstGeom prst="rect">
            <a:avLst/>
          </a:prstGeom>
          <a:noFill/>
        </p:spPr>
        <p:txBody>
          <a:bodyPr vert="horz" wrap="square" lIns="38100" tIns="25400" rIns="38100" bIns="25400" rtlCol="0">
            <a:spAutoFit/>
          </a:bodyPr>
          <a:lstStyle/>
          <a:p>
            <a:r>
              <a:rPr lang="en-US" sz="1200">
                <a:solidFill>
                  <a:srgbClr val="64645E"/>
                </a:solidFill>
                <a:latin typeface="Aptos" panose="020B0004020202020204" pitchFamily="34" charset="0"/>
              </a:rPr>
              <a:t>The database supports users, menu data, orders, and assistant rules.</a:t>
            </a:r>
            <a:endParaRPr lang="en-GB" sz="1200">
              <a:solidFill>
                <a:srgbClr val="64645E"/>
              </a:solidFill>
              <a:latin typeface="Aptos" panose="020B0004020202020204" pitchFamily="34" charset="0"/>
            </a:endParaRPr>
          </a:p>
        </p:txBody>
      </p:sp>
      <p:sp>
        <p:nvSpPr>
          <p:cNvPr id="4" name="Rectangle 3">
            <a:extLst>
              <a:ext uri="{FF2B5EF4-FFF2-40B4-BE49-F238E27FC236}">
                <a16:creationId xmlns:a16="http://schemas.microsoft.com/office/drawing/2014/main" id="{292F0DEC-A5CB-BEAF-CCD8-4FEA2EBE0623}"/>
              </a:ext>
            </a:extLst>
          </p:cNvPr>
          <p:cNvSpPr/>
          <p:nvPr/>
        </p:nvSpPr>
        <p:spPr>
          <a:xfrm>
            <a:off x="635000" y="1473200"/>
            <a:ext cx="10668000" cy="25400"/>
          </a:xfrm>
          <a:prstGeom prst="rect">
            <a:avLst/>
          </a:prstGeom>
          <a:solidFill>
            <a:srgbClr val="6196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65707CB8-E8F0-EBAF-1018-6C0FE53EFD33}"/>
              </a:ext>
            </a:extLst>
          </p:cNvPr>
          <p:cNvSpPr txBox="1"/>
          <p:nvPr/>
        </p:nvSpPr>
        <p:spPr>
          <a:xfrm>
            <a:off x="10033000" y="6375400"/>
            <a:ext cx="1524000" cy="205184"/>
          </a:xfrm>
          <a:prstGeom prst="rect">
            <a:avLst/>
          </a:prstGeom>
          <a:noFill/>
        </p:spPr>
        <p:txBody>
          <a:bodyPr vert="horz" wrap="square" lIns="38100" tIns="25400" rIns="38100" bIns="25400" rtlCol="0">
            <a:spAutoFit/>
          </a:bodyPr>
          <a:lstStyle/>
          <a:p>
            <a:r>
              <a:rPr lang="en-GB" sz="1000">
                <a:solidFill>
                  <a:srgbClr val="64645E"/>
                </a:solidFill>
                <a:latin typeface="Aptos" panose="020B0004020202020204" pitchFamily="34" charset="0"/>
              </a:rPr>
              <a:t>SmartDine | 10</a:t>
            </a:r>
          </a:p>
        </p:txBody>
      </p:sp>
      <p:sp>
        <p:nvSpPr>
          <p:cNvPr id="6" name="Rectangle: Rounded Corners 5">
            <a:extLst>
              <a:ext uri="{FF2B5EF4-FFF2-40B4-BE49-F238E27FC236}">
                <a16:creationId xmlns:a16="http://schemas.microsoft.com/office/drawing/2014/main" id="{29907B59-D2A7-A997-7887-1A7AE2F2217A}"/>
              </a:ext>
            </a:extLst>
          </p:cNvPr>
          <p:cNvSpPr/>
          <p:nvPr/>
        </p:nvSpPr>
        <p:spPr>
          <a:xfrm>
            <a:off x="952500" y="2032000"/>
            <a:ext cx="1651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Users</a:t>
            </a:r>
          </a:p>
        </p:txBody>
      </p:sp>
      <p:sp>
        <p:nvSpPr>
          <p:cNvPr id="7" name="TextBox 6">
            <a:extLst>
              <a:ext uri="{FF2B5EF4-FFF2-40B4-BE49-F238E27FC236}">
                <a16:creationId xmlns:a16="http://schemas.microsoft.com/office/drawing/2014/main" id="{3F096409-0C2C-25CD-831B-C58C7644B2C2}"/>
              </a:ext>
            </a:extLst>
          </p:cNvPr>
          <p:cNvSpPr txBox="1"/>
          <p:nvPr/>
        </p:nvSpPr>
        <p:spPr>
          <a:xfrm>
            <a:off x="2717800" y="21844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8" name="Rectangle: Rounded Corners 7">
            <a:extLst>
              <a:ext uri="{FF2B5EF4-FFF2-40B4-BE49-F238E27FC236}">
                <a16:creationId xmlns:a16="http://schemas.microsoft.com/office/drawing/2014/main" id="{0C58DF2E-1315-4F0A-F956-B4164CE9BC34}"/>
              </a:ext>
            </a:extLst>
          </p:cNvPr>
          <p:cNvSpPr/>
          <p:nvPr/>
        </p:nvSpPr>
        <p:spPr>
          <a:xfrm>
            <a:off x="3111500" y="2032000"/>
            <a:ext cx="1651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Orders</a:t>
            </a:r>
          </a:p>
        </p:txBody>
      </p:sp>
      <p:sp>
        <p:nvSpPr>
          <p:cNvPr id="9" name="TextBox 8">
            <a:extLst>
              <a:ext uri="{FF2B5EF4-FFF2-40B4-BE49-F238E27FC236}">
                <a16:creationId xmlns:a16="http://schemas.microsoft.com/office/drawing/2014/main" id="{F6CDC66F-F35C-ACA9-4EC9-9577189805AC}"/>
              </a:ext>
            </a:extLst>
          </p:cNvPr>
          <p:cNvSpPr txBox="1"/>
          <p:nvPr/>
        </p:nvSpPr>
        <p:spPr>
          <a:xfrm>
            <a:off x="4876800" y="21844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10" name="Rectangle: Rounded Corners 9">
            <a:extLst>
              <a:ext uri="{FF2B5EF4-FFF2-40B4-BE49-F238E27FC236}">
                <a16:creationId xmlns:a16="http://schemas.microsoft.com/office/drawing/2014/main" id="{E164DC7D-E1E8-5DB2-D025-EFA850F83C10}"/>
              </a:ext>
            </a:extLst>
          </p:cNvPr>
          <p:cNvSpPr/>
          <p:nvPr/>
        </p:nvSpPr>
        <p:spPr>
          <a:xfrm>
            <a:off x="5270500" y="2032000"/>
            <a:ext cx="1905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Order items</a:t>
            </a:r>
          </a:p>
        </p:txBody>
      </p:sp>
      <p:sp>
        <p:nvSpPr>
          <p:cNvPr id="11" name="TextBox 10">
            <a:extLst>
              <a:ext uri="{FF2B5EF4-FFF2-40B4-BE49-F238E27FC236}">
                <a16:creationId xmlns:a16="http://schemas.microsoft.com/office/drawing/2014/main" id="{D17D14CA-702A-54C8-C78A-EC443552415F}"/>
              </a:ext>
            </a:extLst>
          </p:cNvPr>
          <p:cNvSpPr txBox="1"/>
          <p:nvPr/>
        </p:nvSpPr>
        <p:spPr>
          <a:xfrm>
            <a:off x="7289800" y="21844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12" name="Rectangle: Rounded Corners 11">
            <a:extLst>
              <a:ext uri="{FF2B5EF4-FFF2-40B4-BE49-F238E27FC236}">
                <a16:creationId xmlns:a16="http://schemas.microsoft.com/office/drawing/2014/main" id="{55CC50A5-41B4-EBFD-1508-2BF43ED8F7C3}"/>
              </a:ext>
            </a:extLst>
          </p:cNvPr>
          <p:cNvSpPr/>
          <p:nvPr/>
        </p:nvSpPr>
        <p:spPr>
          <a:xfrm>
            <a:off x="7683500" y="2032000"/>
            <a:ext cx="1905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Menu items</a:t>
            </a:r>
          </a:p>
        </p:txBody>
      </p:sp>
      <p:sp>
        <p:nvSpPr>
          <p:cNvPr id="13" name="Rectangle: Rounded Corners 12">
            <a:extLst>
              <a:ext uri="{FF2B5EF4-FFF2-40B4-BE49-F238E27FC236}">
                <a16:creationId xmlns:a16="http://schemas.microsoft.com/office/drawing/2014/main" id="{049D0C5D-B1AD-4EE8-2E17-570CC04EA9EA}"/>
              </a:ext>
            </a:extLst>
          </p:cNvPr>
          <p:cNvSpPr/>
          <p:nvPr/>
        </p:nvSpPr>
        <p:spPr>
          <a:xfrm>
            <a:off x="7683500" y="3302000"/>
            <a:ext cx="1905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Categories</a:t>
            </a:r>
          </a:p>
        </p:txBody>
      </p:sp>
      <p:sp>
        <p:nvSpPr>
          <p:cNvPr id="14" name="Rectangle: Rounded Corners 13">
            <a:extLst>
              <a:ext uri="{FF2B5EF4-FFF2-40B4-BE49-F238E27FC236}">
                <a16:creationId xmlns:a16="http://schemas.microsoft.com/office/drawing/2014/main" id="{A8C0D24E-0CCF-71A7-9465-89F2C370D935}"/>
              </a:ext>
            </a:extLst>
          </p:cNvPr>
          <p:cNvSpPr/>
          <p:nvPr/>
        </p:nvSpPr>
        <p:spPr>
          <a:xfrm>
            <a:off x="3111500" y="3302000"/>
            <a:ext cx="1905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Chatbot rules</a:t>
            </a:r>
          </a:p>
        </p:txBody>
      </p:sp>
      <p:sp>
        <p:nvSpPr>
          <p:cNvPr id="15" name="Rectangle: Rounded Corners 14">
            <a:extLst>
              <a:ext uri="{FF2B5EF4-FFF2-40B4-BE49-F238E27FC236}">
                <a16:creationId xmlns:a16="http://schemas.microsoft.com/office/drawing/2014/main" id="{6906D35F-5A7B-2290-A60F-DB9C2801DC15}"/>
              </a:ext>
            </a:extLst>
          </p:cNvPr>
          <p:cNvSpPr/>
          <p:nvPr/>
        </p:nvSpPr>
        <p:spPr>
          <a:xfrm>
            <a:off x="5270500" y="3302000"/>
            <a:ext cx="1905000" cy="6858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Activity logs</a:t>
            </a:r>
          </a:p>
        </p:txBody>
      </p:sp>
      <p:sp>
        <p:nvSpPr>
          <p:cNvPr id="16" name="TextBox 15">
            <a:extLst>
              <a:ext uri="{FF2B5EF4-FFF2-40B4-BE49-F238E27FC236}">
                <a16:creationId xmlns:a16="http://schemas.microsoft.com/office/drawing/2014/main" id="{2BFDF30E-3E9C-70F9-515B-8F04D252B199}"/>
              </a:ext>
            </a:extLst>
          </p:cNvPr>
          <p:cNvSpPr txBox="1"/>
          <p:nvPr/>
        </p:nvSpPr>
        <p:spPr>
          <a:xfrm>
            <a:off x="1270000" y="4826000"/>
            <a:ext cx="9652000" cy="666849"/>
          </a:xfrm>
          <a:prstGeom prst="rect">
            <a:avLst/>
          </a:prstGeom>
          <a:noFill/>
        </p:spPr>
        <p:txBody>
          <a:bodyPr vert="horz" wrap="square" lIns="38100" tIns="25400" rIns="38100" bIns="25400" rtlCol="0">
            <a:spAutoFit/>
          </a:bodyPr>
          <a:lstStyle/>
          <a:p>
            <a:pPr algn="ctr"/>
            <a:r>
              <a:rPr lang="en-US" sz="2000" b="1">
                <a:solidFill>
                  <a:srgbClr val="15311E"/>
                </a:solidFill>
                <a:latin typeface="Aptos" panose="020B0004020202020204" pitchFamily="34" charset="0"/>
              </a:rPr>
              <a:t>The ERD connects customers, orders, menu records, assistant rules, and audit history.</a:t>
            </a:r>
            <a:endParaRPr lang="en-GB" sz="2000" b="1">
              <a:solidFill>
                <a:srgbClr val="15311E"/>
              </a:solidFill>
              <a:latin typeface="Aptos" panose="020B0004020202020204" pitchFamily="34" charset="0"/>
            </a:endParaRPr>
          </a:p>
        </p:txBody>
      </p:sp>
    </p:spTree>
    <p:extLst>
      <p:ext uri="{BB962C8B-B14F-4D97-AF65-F5344CB8AC3E}">
        <p14:creationId xmlns:p14="http://schemas.microsoft.com/office/powerpoint/2010/main" val="813274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221DD6-3FE4-2D97-2F3B-1B4261D755F8}"/>
              </a:ext>
            </a:extLst>
          </p:cNvPr>
          <p:cNvSpPr txBox="1"/>
          <p:nvPr/>
        </p:nvSpPr>
        <p:spPr>
          <a:xfrm>
            <a:off x="635000" y="381000"/>
            <a:ext cx="10541000" cy="512961"/>
          </a:xfrm>
          <a:prstGeom prst="rect">
            <a:avLst/>
          </a:prstGeom>
          <a:noFill/>
        </p:spPr>
        <p:txBody>
          <a:bodyPr vert="horz" wrap="square" lIns="38100" tIns="25400" rIns="38100" bIns="25400" rtlCol="0">
            <a:spAutoFit/>
          </a:bodyPr>
          <a:lstStyle/>
          <a:p>
            <a:r>
              <a:rPr lang="en-GB" sz="3000" b="1">
                <a:solidFill>
                  <a:srgbClr val="15311E"/>
                </a:solidFill>
                <a:latin typeface="Aptos" panose="020B0004020202020204" pitchFamily="34" charset="0"/>
              </a:rPr>
              <a:t>Testing and Evidence</a:t>
            </a:r>
          </a:p>
        </p:txBody>
      </p:sp>
      <p:sp>
        <p:nvSpPr>
          <p:cNvPr id="3" name="TextBox 2">
            <a:extLst>
              <a:ext uri="{FF2B5EF4-FFF2-40B4-BE49-F238E27FC236}">
                <a16:creationId xmlns:a16="http://schemas.microsoft.com/office/drawing/2014/main" id="{11F98B08-9644-7F16-6703-94407264EE94}"/>
              </a:ext>
            </a:extLst>
          </p:cNvPr>
          <p:cNvSpPr txBox="1"/>
          <p:nvPr/>
        </p:nvSpPr>
        <p:spPr>
          <a:xfrm>
            <a:off x="660400" y="1016000"/>
            <a:ext cx="9652000" cy="235962"/>
          </a:xfrm>
          <a:prstGeom prst="rect">
            <a:avLst/>
          </a:prstGeom>
          <a:noFill/>
        </p:spPr>
        <p:txBody>
          <a:bodyPr vert="horz" wrap="square" lIns="38100" tIns="25400" rIns="38100" bIns="25400" rtlCol="0">
            <a:spAutoFit/>
          </a:bodyPr>
          <a:lstStyle/>
          <a:p>
            <a:r>
              <a:rPr lang="en-US" sz="1200">
                <a:solidFill>
                  <a:srgbClr val="64645E"/>
                </a:solidFill>
                <a:latin typeface="Aptos" panose="020B0004020202020204" pitchFamily="34" charset="0"/>
              </a:rPr>
              <a:t>The final system was checked through the main demo workflows.</a:t>
            </a:r>
            <a:endParaRPr lang="en-GB" sz="1200">
              <a:solidFill>
                <a:srgbClr val="64645E"/>
              </a:solidFill>
              <a:latin typeface="Aptos" panose="020B0004020202020204" pitchFamily="34" charset="0"/>
            </a:endParaRPr>
          </a:p>
        </p:txBody>
      </p:sp>
      <p:sp>
        <p:nvSpPr>
          <p:cNvPr id="4" name="Rectangle 3">
            <a:extLst>
              <a:ext uri="{FF2B5EF4-FFF2-40B4-BE49-F238E27FC236}">
                <a16:creationId xmlns:a16="http://schemas.microsoft.com/office/drawing/2014/main" id="{2D2761D6-A439-4F92-6527-0776D973044D}"/>
              </a:ext>
            </a:extLst>
          </p:cNvPr>
          <p:cNvSpPr/>
          <p:nvPr/>
        </p:nvSpPr>
        <p:spPr>
          <a:xfrm>
            <a:off x="635000" y="1473200"/>
            <a:ext cx="10668000" cy="25400"/>
          </a:xfrm>
          <a:prstGeom prst="rect">
            <a:avLst/>
          </a:prstGeom>
          <a:solidFill>
            <a:srgbClr val="6196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54ECFC29-0EEF-FB0D-1B17-FE01FCDB5E3B}"/>
              </a:ext>
            </a:extLst>
          </p:cNvPr>
          <p:cNvSpPr txBox="1"/>
          <p:nvPr/>
        </p:nvSpPr>
        <p:spPr>
          <a:xfrm>
            <a:off x="10033000" y="6375400"/>
            <a:ext cx="1524000" cy="205184"/>
          </a:xfrm>
          <a:prstGeom prst="rect">
            <a:avLst/>
          </a:prstGeom>
          <a:noFill/>
        </p:spPr>
        <p:txBody>
          <a:bodyPr vert="horz" wrap="square" lIns="38100" tIns="25400" rIns="38100" bIns="25400" rtlCol="0">
            <a:spAutoFit/>
          </a:bodyPr>
          <a:lstStyle/>
          <a:p>
            <a:r>
              <a:rPr lang="en-GB" sz="1000">
                <a:solidFill>
                  <a:srgbClr val="64645E"/>
                </a:solidFill>
                <a:latin typeface="Aptos" panose="020B0004020202020204" pitchFamily="34" charset="0"/>
              </a:rPr>
              <a:t>SmartDine | 11</a:t>
            </a:r>
          </a:p>
        </p:txBody>
      </p:sp>
      <p:sp>
        <p:nvSpPr>
          <p:cNvPr id="6" name="TextBox 5">
            <a:extLst>
              <a:ext uri="{FF2B5EF4-FFF2-40B4-BE49-F238E27FC236}">
                <a16:creationId xmlns:a16="http://schemas.microsoft.com/office/drawing/2014/main" id="{AD6EE13A-1D63-FA73-5B74-44D9C53CCCD6}"/>
              </a:ext>
            </a:extLst>
          </p:cNvPr>
          <p:cNvSpPr txBox="1"/>
          <p:nvPr/>
        </p:nvSpPr>
        <p:spPr>
          <a:xfrm>
            <a:off x="698500" y="1905000"/>
            <a:ext cx="4889500" cy="297517"/>
          </a:xfrm>
          <a:prstGeom prst="rect">
            <a:avLst/>
          </a:prstGeom>
          <a:noFill/>
        </p:spPr>
        <p:txBody>
          <a:bodyPr vert="horz" wrap="square" lIns="38100" tIns="25400" rIns="38100" bIns="25400" rtlCol="0">
            <a:spAutoFit/>
          </a:bodyPr>
          <a:lstStyle/>
          <a:p>
            <a:r>
              <a:rPr lang="en-US" sz="1600">
                <a:solidFill>
                  <a:srgbClr val="312C22"/>
                </a:solidFill>
                <a:latin typeface="Aptos" panose="020B0004020202020204" pitchFamily="34" charset="0"/>
              </a:rPr>
              <a:t>- Customer login and order placement were tested.</a:t>
            </a:r>
            <a:endParaRPr lang="en-GB" sz="1600">
              <a:solidFill>
                <a:srgbClr val="312C22"/>
              </a:solidFill>
              <a:latin typeface="Aptos" panose="020B0004020202020204" pitchFamily="34" charset="0"/>
            </a:endParaRPr>
          </a:p>
        </p:txBody>
      </p:sp>
      <p:sp>
        <p:nvSpPr>
          <p:cNvPr id="7" name="TextBox 6">
            <a:extLst>
              <a:ext uri="{FF2B5EF4-FFF2-40B4-BE49-F238E27FC236}">
                <a16:creationId xmlns:a16="http://schemas.microsoft.com/office/drawing/2014/main" id="{E9A39550-466D-6171-6331-6FDB8BA83341}"/>
              </a:ext>
            </a:extLst>
          </p:cNvPr>
          <p:cNvSpPr txBox="1"/>
          <p:nvPr/>
        </p:nvSpPr>
        <p:spPr>
          <a:xfrm>
            <a:off x="698500" y="2641600"/>
            <a:ext cx="4889500" cy="297517"/>
          </a:xfrm>
          <a:prstGeom prst="rect">
            <a:avLst/>
          </a:prstGeom>
          <a:noFill/>
        </p:spPr>
        <p:txBody>
          <a:bodyPr vert="horz" wrap="square" lIns="38100" tIns="25400" rIns="38100" bIns="25400" rtlCol="0">
            <a:spAutoFit/>
          </a:bodyPr>
          <a:lstStyle/>
          <a:p>
            <a:r>
              <a:rPr lang="en-US" sz="1600">
                <a:solidFill>
                  <a:srgbClr val="312C22"/>
                </a:solidFill>
                <a:latin typeface="Aptos" panose="020B0004020202020204" pitchFamily="34" charset="0"/>
              </a:rPr>
              <a:t>- Invalid login feedback was checked.</a:t>
            </a:r>
            <a:endParaRPr lang="en-GB" sz="1600">
              <a:solidFill>
                <a:srgbClr val="312C22"/>
              </a:solidFill>
              <a:latin typeface="Aptos" panose="020B0004020202020204" pitchFamily="34" charset="0"/>
            </a:endParaRPr>
          </a:p>
        </p:txBody>
      </p:sp>
      <p:sp>
        <p:nvSpPr>
          <p:cNvPr id="8" name="TextBox 7">
            <a:extLst>
              <a:ext uri="{FF2B5EF4-FFF2-40B4-BE49-F238E27FC236}">
                <a16:creationId xmlns:a16="http://schemas.microsoft.com/office/drawing/2014/main" id="{86151B21-88EF-8A19-C544-21CA75D4D6AB}"/>
              </a:ext>
            </a:extLst>
          </p:cNvPr>
          <p:cNvSpPr txBox="1"/>
          <p:nvPr/>
        </p:nvSpPr>
        <p:spPr>
          <a:xfrm>
            <a:off x="698500" y="3378200"/>
            <a:ext cx="4889500" cy="297517"/>
          </a:xfrm>
          <a:prstGeom prst="rect">
            <a:avLst/>
          </a:prstGeom>
          <a:noFill/>
        </p:spPr>
        <p:txBody>
          <a:bodyPr vert="horz" wrap="square" lIns="38100" tIns="25400" rIns="38100" bIns="25400" rtlCol="0">
            <a:spAutoFit/>
          </a:bodyPr>
          <a:lstStyle/>
          <a:p>
            <a:r>
              <a:rPr lang="en-US" sz="1600">
                <a:solidFill>
                  <a:srgbClr val="312C22"/>
                </a:solidFill>
                <a:latin typeface="Aptos" panose="020B0004020202020204" pitchFamily="34" charset="0"/>
              </a:rPr>
              <a:t>- Admin restrictions and status updates were tested.</a:t>
            </a:r>
            <a:endParaRPr lang="en-GB" sz="1600">
              <a:solidFill>
                <a:srgbClr val="312C22"/>
              </a:solidFill>
              <a:latin typeface="Aptos" panose="020B0004020202020204" pitchFamily="34" charset="0"/>
            </a:endParaRPr>
          </a:p>
        </p:txBody>
      </p:sp>
      <p:sp>
        <p:nvSpPr>
          <p:cNvPr id="9" name="TextBox 8">
            <a:extLst>
              <a:ext uri="{FF2B5EF4-FFF2-40B4-BE49-F238E27FC236}">
                <a16:creationId xmlns:a16="http://schemas.microsoft.com/office/drawing/2014/main" id="{80795EF2-8E84-2D5C-614F-E5D338CF8007}"/>
              </a:ext>
            </a:extLst>
          </p:cNvPr>
          <p:cNvSpPr txBox="1"/>
          <p:nvPr/>
        </p:nvSpPr>
        <p:spPr>
          <a:xfrm>
            <a:off x="698500" y="4114800"/>
            <a:ext cx="4889500" cy="543739"/>
          </a:xfrm>
          <a:prstGeom prst="rect">
            <a:avLst/>
          </a:prstGeom>
          <a:noFill/>
        </p:spPr>
        <p:txBody>
          <a:bodyPr vert="horz" wrap="square" lIns="38100" tIns="25400" rIns="38100" bIns="25400" rtlCol="0">
            <a:spAutoFit/>
          </a:bodyPr>
          <a:lstStyle/>
          <a:p>
            <a:r>
              <a:rPr lang="en-US" sz="1600">
                <a:solidFill>
                  <a:srgbClr val="312C22"/>
                </a:solidFill>
                <a:latin typeface="Aptos" panose="020B0004020202020204" pitchFamily="34" charset="0"/>
              </a:rPr>
              <a:t>- GitHub branches, commits, and pull requests show collaboration.</a:t>
            </a:r>
            <a:endParaRPr lang="en-GB" sz="1600">
              <a:solidFill>
                <a:srgbClr val="312C22"/>
              </a:solidFill>
              <a:latin typeface="Aptos" panose="020B0004020202020204" pitchFamily="34" charset="0"/>
            </a:endParaRPr>
          </a:p>
        </p:txBody>
      </p:sp>
      <p:pic>
        <p:nvPicPr>
          <p:cNvPr id="11" name="Picture 10">
            <a:extLst>
              <a:ext uri="{FF2B5EF4-FFF2-40B4-BE49-F238E27FC236}">
                <a16:creationId xmlns:a16="http://schemas.microsoft.com/office/drawing/2014/main" id="{D6FB5BFB-159A-04EB-9CE8-945FCC741A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1000" y="2245402"/>
            <a:ext cx="6350000" cy="3129195"/>
          </a:xfrm>
          <a:prstGeom prst="rect">
            <a:avLst/>
          </a:prstGeom>
          <a:ln w="12700">
            <a:solidFill>
              <a:srgbClr val="D3D3D3"/>
            </a:solidFill>
          </a:ln>
        </p:spPr>
      </p:pic>
    </p:spTree>
    <p:extLst>
      <p:ext uri="{BB962C8B-B14F-4D97-AF65-F5344CB8AC3E}">
        <p14:creationId xmlns:p14="http://schemas.microsoft.com/office/powerpoint/2010/main" val="3580005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D02B9F-D3E9-3D11-7C40-E12C378F66E4}"/>
              </a:ext>
            </a:extLst>
          </p:cNvPr>
          <p:cNvSpPr txBox="1"/>
          <p:nvPr/>
        </p:nvSpPr>
        <p:spPr>
          <a:xfrm>
            <a:off x="635000" y="381000"/>
            <a:ext cx="10541000" cy="512961"/>
          </a:xfrm>
          <a:prstGeom prst="rect">
            <a:avLst/>
          </a:prstGeom>
          <a:noFill/>
        </p:spPr>
        <p:txBody>
          <a:bodyPr vert="horz" wrap="square" lIns="38100" tIns="25400" rIns="38100" bIns="25400" rtlCol="0">
            <a:spAutoFit/>
          </a:bodyPr>
          <a:lstStyle/>
          <a:p>
            <a:r>
              <a:rPr lang="en-GB" sz="3000" b="1">
                <a:solidFill>
                  <a:srgbClr val="15311E"/>
                </a:solidFill>
                <a:latin typeface="Aptos" panose="020B0004020202020204" pitchFamily="34" charset="0"/>
              </a:rPr>
              <a:t>Deployment and Demo Plan</a:t>
            </a:r>
          </a:p>
        </p:txBody>
      </p:sp>
      <p:sp>
        <p:nvSpPr>
          <p:cNvPr id="3" name="TextBox 2">
            <a:extLst>
              <a:ext uri="{FF2B5EF4-FFF2-40B4-BE49-F238E27FC236}">
                <a16:creationId xmlns:a16="http://schemas.microsoft.com/office/drawing/2014/main" id="{EB81C632-7D64-00AB-5868-E8BE78B80563}"/>
              </a:ext>
            </a:extLst>
          </p:cNvPr>
          <p:cNvSpPr txBox="1"/>
          <p:nvPr/>
        </p:nvSpPr>
        <p:spPr>
          <a:xfrm>
            <a:off x="660400" y="1016000"/>
            <a:ext cx="9652000" cy="235962"/>
          </a:xfrm>
          <a:prstGeom prst="rect">
            <a:avLst/>
          </a:prstGeom>
          <a:noFill/>
        </p:spPr>
        <p:txBody>
          <a:bodyPr vert="horz" wrap="square" lIns="38100" tIns="25400" rIns="38100" bIns="25400" rtlCol="0">
            <a:spAutoFit/>
          </a:bodyPr>
          <a:lstStyle/>
          <a:p>
            <a:r>
              <a:rPr lang="en-US" sz="1200">
                <a:solidFill>
                  <a:srgbClr val="64645E"/>
                </a:solidFill>
                <a:latin typeface="Aptos" panose="020B0004020202020204" pitchFamily="34" charset="0"/>
              </a:rPr>
              <a:t>The finished system is available through public deployment links.</a:t>
            </a:r>
            <a:endParaRPr lang="en-GB" sz="1200">
              <a:solidFill>
                <a:srgbClr val="64645E"/>
              </a:solidFill>
              <a:latin typeface="Aptos" panose="020B0004020202020204" pitchFamily="34" charset="0"/>
            </a:endParaRPr>
          </a:p>
        </p:txBody>
      </p:sp>
      <p:sp>
        <p:nvSpPr>
          <p:cNvPr id="4" name="Rectangle 3">
            <a:extLst>
              <a:ext uri="{FF2B5EF4-FFF2-40B4-BE49-F238E27FC236}">
                <a16:creationId xmlns:a16="http://schemas.microsoft.com/office/drawing/2014/main" id="{41D1A0A7-CAD2-ECE2-99B1-64D5436D384C}"/>
              </a:ext>
            </a:extLst>
          </p:cNvPr>
          <p:cNvSpPr/>
          <p:nvPr/>
        </p:nvSpPr>
        <p:spPr>
          <a:xfrm>
            <a:off x="635000" y="1473200"/>
            <a:ext cx="10668000" cy="25400"/>
          </a:xfrm>
          <a:prstGeom prst="rect">
            <a:avLst/>
          </a:prstGeom>
          <a:solidFill>
            <a:srgbClr val="6196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7B79D56F-D976-5153-C43F-0532317727DA}"/>
              </a:ext>
            </a:extLst>
          </p:cNvPr>
          <p:cNvSpPr txBox="1"/>
          <p:nvPr/>
        </p:nvSpPr>
        <p:spPr>
          <a:xfrm>
            <a:off x="10033000" y="6375400"/>
            <a:ext cx="1524000" cy="205184"/>
          </a:xfrm>
          <a:prstGeom prst="rect">
            <a:avLst/>
          </a:prstGeom>
          <a:noFill/>
        </p:spPr>
        <p:txBody>
          <a:bodyPr vert="horz" wrap="square" lIns="38100" tIns="25400" rIns="38100" bIns="25400" rtlCol="0">
            <a:spAutoFit/>
          </a:bodyPr>
          <a:lstStyle/>
          <a:p>
            <a:r>
              <a:rPr lang="en-GB" sz="1000">
                <a:solidFill>
                  <a:srgbClr val="64645E"/>
                </a:solidFill>
                <a:latin typeface="Aptos" panose="020B0004020202020204" pitchFamily="34" charset="0"/>
              </a:rPr>
              <a:t>SmartDine | 12</a:t>
            </a:r>
          </a:p>
        </p:txBody>
      </p:sp>
      <p:sp>
        <p:nvSpPr>
          <p:cNvPr id="6" name="Rectangle: Rounded Corners 5">
            <a:extLst>
              <a:ext uri="{FF2B5EF4-FFF2-40B4-BE49-F238E27FC236}">
                <a16:creationId xmlns:a16="http://schemas.microsoft.com/office/drawing/2014/main" id="{AA20EE77-F2CB-76CE-1A7F-9FF6EA7EA68D}"/>
              </a:ext>
            </a:extLst>
          </p:cNvPr>
          <p:cNvSpPr/>
          <p:nvPr/>
        </p:nvSpPr>
        <p:spPr>
          <a:xfrm>
            <a:off x="825500" y="2032000"/>
            <a:ext cx="1905000" cy="8890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Netlify</a:t>
            </a:r>
          </a:p>
          <a:p>
            <a:pPr algn="ctr"/>
            <a:r>
              <a:rPr lang="en-GB" sz="1600" b="1">
                <a:solidFill>
                  <a:srgbClr val="15311E"/>
                </a:solidFill>
                <a:latin typeface="Aptos" panose="020B0004020202020204" pitchFamily="34" charset="0"/>
              </a:rPr>
              <a:t>Frontend</a:t>
            </a:r>
          </a:p>
        </p:txBody>
      </p:sp>
      <p:sp>
        <p:nvSpPr>
          <p:cNvPr id="7" name="TextBox 6">
            <a:extLst>
              <a:ext uri="{FF2B5EF4-FFF2-40B4-BE49-F238E27FC236}">
                <a16:creationId xmlns:a16="http://schemas.microsoft.com/office/drawing/2014/main" id="{42EB412A-0080-CBC0-1E62-1151401D6959}"/>
              </a:ext>
            </a:extLst>
          </p:cNvPr>
          <p:cNvSpPr txBox="1"/>
          <p:nvPr/>
        </p:nvSpPr>
        <p:spPr>
          <a:xfrm>
            <a:off x="2844800" y="22860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8" name="Rectangle: Rounded Corners 7">
            <a:extLst>
              <a:ext uri="{FF2B5EF4-FFF2-40B4-BE49-F238E27FC236}">
                <a16:creationId xmlns:a16="http://schemas.microsoft.com/office/drawing/2014/main" id="{1993BA28-BFBD-1504-6843-2286E497281D}"/>
              </a:ext>
            </a:extLst>
          </p:cNvPr>
          <p:cNvSpPr/>
          <p:nvPr/>
        </p:nvSpPr>
        <p:spPr>
          <a:xfrm>
            <a:off x="3302000" y="2032000"/>
            <a:ext cx="2095500" cy="8890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Render</a:t>
            </a:r>
          </a:p>
          <a:p>
            <a:pPr algn="ctr"/>
            <a:r>
              <a:rPr lang="en-GB" sz="1600" b="1">
                <a:solidFill>
                  <a:srgbClr val="15311E"/>
                </a:solidFill>
                <a:latin typeface="Aptos" panose="020B0004020202020204" pitchFamily="34" charset="0"/>
              </a:rPr>
              <a:t>Backend API</a:t>
            </a:r>
          </a:p>
        </p:txBody>
      </p:sp>
      <p:sp>
        <p:nvSpPr>
          <p:cNvPr id="9" name="TextBox 8">
            <a:extLst>
              <a:ext uri="{FF2B5EF4-FFF2-40B4-BE49-F238E27FC236}">
                <a16:creationId xmlns:a16="http://schemas.microsoft.com/office/drawing/2014/main" id="{242B7EE5-EAB4-82F5-03F2-2FF9C7146479}"/>
              </a:ext>
            </a:extLst>
          </p:cNvPr>
          <p:cNvSpPr txBox="1"/>
          <p:nvPr/>
        </p:nvSpPr>
        <p:spPr>
          <a:xfrm>
            <a:off x="5524500" y="2286000"/>
            <a:ext cx="355600" cy="359073"/>
          </a:xfrm>
          <a:prstGeom prst="rect">
            <a:avLst/>
          </a:prstGeom>
          <a:noFill/>
        </p:spPr>
        <p:txBody>
          <a:bodyPr vert="horz" wrap="square" lIns="38100" tIns="25400" rIns="38100" bIns="25400" rtlCol="0">
            <a:spAutoFit/>
          </a:bodyPr>
          <a:lstStyle/>
          <a:p>
            <a:pPr algn="ctr"/>
            <a:r>
              <a:rPr lang="en-GB" sz="2000" b="1">
                <a:solidFill>
                  <a:srgbClr val="61964C"/>
                </a:solidFill>
                <a:latin typeface="Aptos" panose="020B0004020202020204" pitchFamily="34" charset="0"/>
              </a:rPr>
              <a:t>&gt;</a:t>
            </a:r>
          </a:p>
        </p:txBody>
      </p:sp>
      <p:sp>
        <p:nvSpPr>
          <p:cNvPr id="10" name="Rectangle: Rounded Corners 9">
            <a:extLst>
              <a:ext uri="{FF2B5EF4-FFF2-40B4-BE49-F238E27FC236}">
                <a16:creationId xmlns:a16="http://schemas.microsoft.com/office/drawing/2014/main" id="{D8665019-23C4-251E-0D8B-287EFC064894}"/>
              </a:ext>
            </a:extLst>
          </p:cNvPr>
          <p:cNvSpPr/>
          <p:nvPr/>
        </p:nvSpPr>
        <p:spPr>
          <a:xfrm>
            <a:off x="5969000" y="2032000"/>
            <a:ext cx="2286000" cy="889000"/>
          </a:xfrm>
          <a:prstGeom prst="roundRect">
            <a:avLst/>
          </a:prstGeom>
          <a:solidFill>
            <a:srgbClr val="EEEFE1"/>
          </a:solidFill>
          <a:ln w="15240">
            <a:solidFill>
              <a:srgbClr val="61964C"/>
            </a:solidFill>
          </a:ln>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GB" sz="1600" b="1">
                <a:solidFill>
                  <a:srgbClr val="15311E"/>
                </a:solidFill>
                <a:latin typeface="Aptos" panose="020B0004020202020204" pitchFamily="34" charset="0"/>
              </a:rPr>
              <a:t>Aiven MySQL</a:t>
            </a:r>
          </a:p>
          <a:p>
            <a:pPr algn="ctr"/>
            <a:r>
              <a:rPr lang="en-GB" sz="1600" b="1">
                <a:solidFill>
                  <a:srgbClr val="15311E"/>
                </a:solidFill>
                <a:latin typeface="Aptos" panose="020B0004020202020204" pitchFamily="34" charset="0"/>
              </a:rPr>
              <a:t>Hosted database</a:t>
            </a:r>
          </a:p>
        </p:txBody>
      </p:sp>
      <p:pic>
        <p:nvPicPr>
          <p:cNvPr id="12" name="Picture 11">
            <a:extLst>
              <a:ext uri="{FF2B5EF4-FFF2-40B4-BE49-F238E27FC236}">
                <a16:creationId xmlns:a16="http://schemas.microsoft.com/office/drawing/2014/main" id="{7FC7CD7A-EA69-A7BB-DD9E-B8F14D35D0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3000" y="1986019"/>
            <a:ext cx="2667000" cy="1298462"/>
          </a:xfrm>
          <a:prstGeom prst="rect">
            <a:avLst/>
          </a:prstGeom>
          <a:ln w="12700">
            <a:solidFill>
              <a:srgbClr val="D3D3D3"/>
            </a:solidFill>
          </a:ln>
        </p:spPr>
      </p:pic>
      <p:sp>
        <p:nvSpPr>
          <p:cNvPr id="13" name="TextBox 12">
            <a:extLst>
              <a:ext uri="{FF2B5EF4-FFF2-40B4-BE49-F238E27FC236}">
                <a16:creationId xmlns:a16="http://schemas.microsoft.com/office/drawing/2014/main" id="{367BF271-5810-7197-ECCF-47C3A334A887}"/>
              </a:ext>
            </a:extLst>
          </p:cNvPr>
          <p:cNvSpPr txBox="1"/>
          <p:nvPr/>
        </p:nvSpPr>
        <p:spPr>
          <a:xfrm>
            <a:off x="1270000" y="3937000"/>
            <a:ext cx="9652000" cy="728405"/>
          </a:xfrm>
          <a:prstGeom prst="rect">
            <a:avLst/>
          </a:prstGeom>
          <a:noFill/>
        </p:spPr>
        <p:txBody>
          <a:bodyPr vert="horz" wrap="square" lIns="38100" tIns="25400" rIns="38100" bIns="25400" rtlCol="0">
            <a:spAutoFit/>
          </a:bodyPr>
          <a:lstStyle/>
          <a:p>
            <a:pPr algn="ctr"/>
            <a:r>
              <a:rPr lang="en-US" sz="2200" b="1">
                <a:solidFill>
                  <a:srgbClr val="15311E"/>
                </a:solidFill>
                <a:latin typeface="Aptos" panose="020B0004020202020204" pitchFamily="34" charset="0"/>
              </a:rPr>
              <a:t>Live demo flow: menu loading &gt; customer order &gt; admin update &gt; chatbot support</a:t>
            </a:r>
            <a:endParaRPr lang="en-GB" sz="2200" b="1">
              <a:solidFill>
                <a:srgbClr val="15311E"/>
              </a:solidFill>
              <a:latin typeface="Aptos" panose="020B0004020202020204" pitchFamily="34" charset="0"/>
            </a:endParaRPr>
          </a:p>
        </p:txBody>
      </p:sp>
    </p:spTree>
    <p:extLst>
      <p:ext uri="{BB962C8B-B14F-4D97-AF65-F5344CB8AC3E}">
        <p14:creationId xmlns:p14="http://schemas.microsoft.com/office/powerpoint/2010/main" val="19241306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1401</Words>
  <Application>Microsoft Office PowerPoint</Application>
  <PresentationFormat>Widescreen</PresentationFormat>
  <Paragraphs>156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keyurg</dc:creator>
  <cp:lastModifiedBy>SUshan lamichhane</cp:lastModifiedBy>
  <cp:revision>3</cp:revision>
  <dcterms:created xsi:type="dcterms:W3CDTF">2026-10-04T07:12:55Z</dcterms:created>
  <dcterms:modified xsi:type="dcterms:W3CDTF">2026-10-04T07:21:59Z</dcterms:modified>
</cp:coreProperties>
</file>